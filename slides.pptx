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8" d="100"/>
          <a:sy n="88" d="100"/>
        </p:scale>
        <p:origin x="660"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350859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reference numbers come from the supplied reference_results.npz; all random draws follow the supplied README conventions. Our own grid solver is used for the Part 1 illustrations and as an independent cross-check.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use the risk-neutral measure. Calendar time runs right to left on every boundary plot because the horizontal axis is time remaining.</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here: everything in Part 1 explains these features. Stress the axis direction first; the dividend is paid when calendar time crosses a dotted line from right to left.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version: exercising after the drop pays delta times s more, and no time passes, so there is no interest cost. Hence pre-jump exercise is dominated and the code can apply the jump first.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Economics: exercising now earns interest on K; waiting captures the drop delta*s. Exercise only pays if delta*s &lt;= K(1-e^{-r eps}). As eps goes to 0 the interest term vanishes, so nothing positive can be exercised.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Proximity depends on s: for fixed s, delta*s beats K(1-e^{-r eps}) once eps &lt; eps*(s) ~ delta*s/(rK), so smaller prices must be closer to the dividend. The bound is a function of s and eps only, which makes this precise. A positive boundary one grid step before the dividend is compatible with the zero limit because on a grid eps &gt;= h. Near the dividend the boundary sits ON the cap (the bound is attained because exercise at d+ is almost certain for small s): these are the straight lines of slope rK/delta ~ 3.9K per year in Cox-Rubinstein. After the dividend the next one is far away, so the incentive to wait disappears and the boundary jumps up. After d3 the boundary tends to K at maturity, as in the delta = 0 curve of Cox-Rubinstein Fig. 5-37.</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step is fixing ONE stopping time for both models before comparing payoffs; the second statistic shows pathwise dominance fails if each model stops by its own rule. Containment does not need the exercise region to be an interval.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 image of item 1: for the put the drop helps, so waiting past it is free; for the call the drop hurts, so the holder may want to exercise just before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reference obeys the theorem exactly. The fitted diagnostics tell us where the learning methods are weakest: after d3 for LS, just after dividends for the NN.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 refinement barely moves anything because the kernel integrates the lognormal step exactly. More exercise dates raise the value by ~1e-3 dollars and move the boundary by ~0.3 dollars, two orders of magnitude above the refinement changes.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order and arithmetic follow the supplied README exactly, so the samples match the instructor run up to floating-point and library differences.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clip upper bound is the most any continuation can be worth in time-zero dollars, since the next exercise is at t_{j+1} and pays at most K. Replaying the frozen rule reproduces the backward targets exactly.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Nearly every date has two positive-to-negative crossings. The rule defines a single interval containing all smaller prices, which is the correct economic shape even though the polynomial itself says otherwise.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Becker et al. (2019): one network per date, stop/continue relaxed to a logistic probability, trained backward one date at a time to maximise expected reward; lower bound plus dual upper bound. Bühler et al. (2019): semi-recurrent networks for the hedging strategy, trained with Adam on simulated paths to minimise a convex risk measure (e.g. expected shortfall) under transaction costs. We train one threshold jointly over all dates for expected payoff.</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Validation means differ by less than about 1.3 paired standard errors, so selection is close to picking among equals. The value is flat near the optimal threshold, so validation barely reacts to boundary changes.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NN smooths the LS noise and removes its downward spikes before dividends, but inherits LS's low level unless payoff training moves it (case 2 did, case 3 selected checkpoint 0).</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cap supplies the known pre-dividend behaviour; the fitted functions only determine the shape below it.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mean lies at or below the reference value, as it must: a frozen policy cannot beat the optimum. The perturbation study (a = ±0.02) is still to do.</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optimal boundary itself moves by only 0.26% of K between N = 180 and 360, far less than the fitted errors, so changes of a fitted policy with N are learning error.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txBox="1"/>
          <p:nvPr/>
        </p:nvSpPr>
        <p:spPr>
          <a:xfrm>
            <a:off x="548640" y="1280160"/>
            <a:ext cx="8046720" cy="1097280"/>
          </a:xfrm>
          <a:prstGeom prst="rect">
            <a:avLst/>
          </a:prstGeom>
          <a:noFill/>
          <a:ln/>
        </p:spPr>
        <p:txBody>
          <a:bodyPr wrap="square" lIns="0" tIns="0" rIns="0" bIns="0" rtlCol="0" anchor="ctr"/>
          <a:lstStyle/>
          <a:p>
            <a:pPr marL="0" indent="0">
              <a:buNone/>
            </a:pPr>
            <a:r>
              <a:rPr lang="en-US" sz="3800" b="1" dirty="0">
                <a:solidFill>
                  <a:srgbClr val="FFFFFF"/>
                </a:solidFill>
                <a:latin typeface="Cambria" pitchFamily="34" charset="0"/>
                <a:ea typeface="Cambria" pitchFamily="34" charset="-122"/>
                <a:cs typeface="Cambria" pitchFamily="34" charset="-120"/>
              </a:rPr>
              <a:t>Learning an American Put Exercise Boundary</a:t>
            </a:r>
            <a:endParaRPr lang="en-US" sz="3800" dirty="0"/>
          </a:p>
        </p:txBody>
      </p:sp>
      <p:sp>
        <p:nvSpPr>
          <p:cNvPr id="3" name="Text 1"/>
          <p:cNvSpPr txBox="1"/>
          <p:nvPr/>
        </p:nvSpPr>
        <p:spPr>
          <a:xfrm>
            <a:off x="548640" y="2423160"/>
            <a:ext cx="8046720" cy="457200"/>
          </a:xfrm>
          <a:prstGeom prst="rect">
            <a:avLst/>
          </a:prstGeom>
          <a:noFill/>
          <a:ln/>
        </p:spPr>
        <p:txBody>
          <a:bodyPr wrap="square" lIns="0" tIns="0" rIns="0" bIns="0" rtlCol="0" anchor="ctr"/>
          <a:lstStyle/>
          <a:p>
            <a:pPr marL="0" indent="0">
              <a:buNone/>
            </a:pPr>
            <a:r>
              <a:rPr lang="en-US" sz="1600" dirty="0">
                <a:solidFill>
                  <a:srgbClr val="CADCFC"/>
                </a:solidFill>
                <a:latin typeface="Calibri" pitchFamily="34" charset="0"/>
                <a:ea typeface="Calibri" pitchFamily="34" charset="-122"/>
                <a:cs typeface="Calibri" pitchFamily="34" charset="-120"/>
              </a:rPr>
              <a:t>Numerical reference, Longstaff–Schwartz regression and neural exercise policies</a:t>
            </a:r>
            <a:endParaRPr lang="en-US" sz="1600" dirty="0"/>
          </a:p>
        </p:txBody>
      </p:sp>
      <p:sp>
        <p:nvSpPr>
          <p:cNvPr id="4" name="Text 2"/>
          <p:cNvSpPr txBox="1"/>
          <p:nvPr/>
        </p:nvSpPr>
        <p:spPr>
          <a:xfrm>
            <a:off x="548640" y="4114800"/>
            <a:ext cx="804672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Aditi Joshi, Helen Siavelis, Jaskaran Kalra, William McDonnell  ·  Baruch MFE, Scientific Computing in Finance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How accurately must a boundary be learned?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Price an American put with three proportional dividends; compare a reference, LS and a neural policy</a:t>
            </a:r>
            <a:endParaRPr lang="en-US" sz="1300" dirty="0"/>
          </a:p>
        </p:txBody>
      </p:sp>
      <p:sp>
        <p:nvSpPr>
          <p:cNvPr id="4" name="Shape 2"/>
          <p:cNvSpPr/>
          <p:nvPr/>
        </p:nvSpPr>
        <p:spPr>
          <a:xfrm>
            <a:off x="457200" y="1325880"/>
            <a:ext cx="2606040" cy="1051560"/>
          </a:xfrm>
          <a:prstGeom prst="roundRect">
            <a:avLst>
              <a:gd name="adj" fmla="val 6957"/>
            </a:avLst>
          </a:prstGeom>
          <a:solidFill>
            <a:srgbClr val="EEF2FB"/>
          </a:solidFill>
          <a:ln w="12700">
            <a:solidFill>
              <a:srgbClr val="EEF2FB"/>
            </a:solidFill>
            <a:prstDash val="solid"/>
          </a:ln>
        </p:spPr>
      </p:sp>
      <p:sp>
        <p:nvSpPr>
          <p:cNvPr id="5" name="Text 3"/>
          <p:cNvSpPr txBox="1"/>
          <p:nvPr/>
        </p:nvSpPr>
        <p:spPr>
          <a:xfrm>
            <a:off x="594360" y="1399032"/>
            <a:ext cx="233172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K = 100</a:t>
            </a:r>
            <a:endParaRPr lang="en-US" sz="2800" dirty="0"/>
          </a:p>
        </p:txBody>
      </p:sp>
      <p:sp>
        <p:nvSpPr>
          <p:cNvPr id="6" name="Text 4"/>
          <p:cNvSpPr txBox="1"/>
          <p:nvPr/>
        </p:nvSpPr>
        <p:spPr>
          <a:xfrm>
            <a:off x="594360" y="1929384"/>
            <a:ext cx="233172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strike</a:t>
            </a:r>
            <a:endParaRPr lang="en-US" sz="1100" dirty="0"/>
          </a:p>
        </p:txBody>
      </p:sp>
      <p:sp>
        <p:nvSpPr>
          <p:cNvPr id="7" name="Shape 5"/>
          <p:cNvSpPr/>
          <p:nvPr/>
        </p:nvSpPr>
        <p:spPr>
          <a:xfrm>
            <a:off x="3246120" y="1325880"/>
            <a:ext cx="2606040" cy="1051560"/>
          </a:xfrm>
          <a:prstGeom prst="roundRect">
            <a:avLst>
              <a:gd name="adj" fmla="val 6957"/>
            </a:avLst>
          </a:prstGeom>
          <a:solidFill>
            <a:srgbClr val="EEF2FB"/>
          </a:solidFill>
          <a:ln w="12700">
            <a:solidFill>
              <a:srgbClr val="EEF2FB"/>
            </a:solidFill>
            <a:prstDash val="solid"/>
          </a:ln>
        </p:spPr>
      </p:sp>
      <p:sp>
        <p:nvSpPr>
          <p:cNvPr id="8" name="Text 6"/>
          <p:cNvSpPr txBox="1"/>
          <p:nvPr/>
        </p:nvSpPr>
        <p:spPr>
          <a:xfrm>
            <a:off x="3383280" y="1399032"/>
            <a:ext cx="233172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T = 3/4</a:t>
            </a:r>
            <a:endParaRPr lang="en-US" sz="2800" dirty="0"/>
          </a:p>
        </p:txBody>
      </p:sp>
      <p:sp>
        <p:nvSpPr>
          <p:cNvPr id="9" name="Text 7"/>
          <p:cNvSpPr txBox="1"/>
          <p:nvPr/>
        </p:nvSpPr>
        <p:spPr>
          <a:xfrm>
            <a:off x="3383280" y="1929384"/>
            <a:ext cx="233172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years to maturity</a:t>
            </a:r>
            <a:endParaRPr lang="en-US" sz="1100" dirty="0"/>
          </a:p>
        </p:txBody>
      </p:sp>
      <p:sp>
        <p:nvSpPr>
          <p:cNvPr id="10" name="Shape 8"/>
          <p:cNvSpPr/>
          <p:nvPr/>
        </p:nvSpPr>
        <p:spPr>
          <a:xfrm>
            <a:off x="6035040" y="1325880"/>
            <a:ext cx="2606040" cy="1051560"/>
          </a:xfrm>
          <a:prstGeom prst="roundRect">
            <a:avLst>
              <a:gd name="adj" fmla="val 6957"/>
            </a:avLst>
          </a:prstGeom>
          <a:solidFill>
            <a:srgbClr val="EEF2FB"/>
          </a:solidFill>
          <a:ln w="12700">
            <a:solidFill>
              <a:srgbClr val="EEF2FB"/>
            </a:solidFill>
            <a:prstDash val="solid"/>
          </a:ln>
        </p:spPr>
      </p:sp>
      <p:sp>
        <p:nvSpPr>
          <p:cNvPr id="11" name="Text 9"/>
          <p:cNvSpPr txBox="1"/>
          <p:nvPr/>
        </p:nvSpPr>
        <p:spPr>
          <a:xfrm>
            <a:off x="6172200" y="1399032"/>
            <a:ext cx="233172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r = log 1.05</a:t>
            </a:r>
            <a:endParaRPr lang="en-US" sz="2800" dirty="0"/>
          </a:p>
        </p:txBody>
      </p:sp>
      <p:sp>
        <p:nvSpPr>
          <p:cNvPr id="12" name="Text 10"/>
          <p:cNvSpPr txBox="1"/>
          <p:nvPr/>
        </p:nvSpPr>
        <p:spPr>
          <a:xfrm>
            <a:off x="6172200" y="1929384"/>
            <a:ext cx="233172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continuous rate</a:t>
            </a:r>
            <a:endParaRPr lang="en-US" sz="1100" dirty="0"/>
          </a:p>
        </p:txBody>
      </p:sp>
      <p:sp>
        <p:nvSpPr>
          <p:cNvPr id="13" name="Shape 11"/>
          <p:cNvSpPr/>
          <p:nvPr/>
        </p:nvSpPr>
        <p:spPr>
          <a:xfrm>
            <a:off x="457200" y="2560320"/>
            <a:ext cx="2606040" cy="1051560"/>
          </a:xfrm>
          <a:prstGeom prst="roundRect">
            <a:avLst>
              <a:gd name="adj" fmla="val 6957"/>
            </a:avLst>
          </a:prstGeom>
          <a:solidFill>
            <a:srgbClr val="EEF2FB"/>
          </a:solidFill>
          <a:ln w="12700">
            <a:solidFill>
              <a:srgbClr val="EEF2FB"/>
            </a:solidFill>
            <a:prstDash val="solid"/>
          </a:ln>
        </p:spPr>
      </p:sp>
      <p:sp>
        <p:nvSpPr>
          <p:cNvPr id="14" name="Text 12"/>
          <p:cNvSpPr txBox="1"/>
          <p:nvPr/>
        </p:nvSpPr>
        <p:spPr>
          <a:xfrm>
            <a:off x="594360" y="2633472"/>
            <a:ext cx="233172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σ = 0.30</a:t>
            </a:r>
            <a:endParaRPr lang="en-US" sz="2800" dirty="0"/>
          </a:p>
        </p:txBody>
      </p:sp>
      <p:sp>
        <p:nvSpPr>
          <p:cNvPr id="15" name="Text 13"/>
          <p:cNvSpPr txBox="1"/>
          <p:nvPr/>
        </p:nvSpPr>
        <p:spPr>
          <a:xfrm>
            <a:off x="594360" y="3163824"/>
            <a:ext cx="233172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volatility</a:t>
            </a:r>
            <a:endParaRPr lang="en-US" sz="1100" dirty="0"/>
          </a:p>
        </p:txBody>
      </p:sp>
      <p:sp>
        <p:nvSpPr>
          <p:cNvPr id="16" name="Shape 14"/>
          <p:cNvSpPr/>
          <p:nvPr/>
        </p:nvSpPr>
        <p:spPr>
          <a:xfrm>
            <a:off x="3246120" y="2560320"/>
            <a:ext cx="2606040" cy="1051560"/>
          </a:xfrm>
          <a:prstGeom prst="roundRect">
            <a:avLst>
              <a:gd name="adj" fmla="val 6957"/>
            </a:avLst>
          </a:prstGeom>
          <a:solidFill>
            <a:srgbClr val="EEF2FB"/>
          </a:solidFill>
          <a:ln w="12700">
            <a:solidFill>
              <a:srgbClr val="EEF2FB"/>
            </a:solidFill>
            <a:prstDash val="solid"/>
          </a:ln>
        </p:spPr>
      </p:sp>
      <p:sp>
        <p:nvSpPr>
          <p:cNvPr id="17" name="Text 15"/>
          <p:cNvSpPr txBox="1"/>
          <p:nvPr/>
        </p:nvSpPr>
        <p:spPr>
          <a:xfrm>
            <a:off x="3383280" y="2633472"/>
            <a:ext cx="233172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δ ∈ {0, 1.25%}</a:t>
            </a:r>
            <a:endParaRPr lang="en-US" sz="2800" dirty="0"/>
          </a:p>
        </p:txBody>
      </p:sp>
      <p:sp>
        <p:nvSpPr>
          <p:cNvPr id="18" name="Text 16"/>
          <p:cNvSpPr txBox="1"/>
          <p:nvPr/>
        </p:nvSpPr>
        <p:spPr>
          <a:xfrm>
            <a:off x="3383280" y="3163824"/>
            <a:ext cx="233172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dividend fraction</a:t>
            </a:r>
            <a:endParaRPr lang="en-US" sz="1100" dirty="0"/>
          </a:p>
        </p:txBody>
      </p:sp>
      <p:sp>
        <p:nvSpPr>
          <p:cNvPr id="19" name="Shape 17"/>
          <p:cNvSpPr/>
          <p:nvPr/>
        </p:nvSpPr>
        <p:spPr>
          <a:xfrm>
            <a:off x="6035040" y="2560320"/>
            <a:ext cx="2606040" cy="1051560"/>
          </a:xfrm>
          <a:prstGeom prst="roundRect">
            <a:avLst>
              <a:gd name="adj" fmla="val 6957"/>
            </a:avLst>
          </a:prstGeom>
          <a:solidFill>
            <a:srgbClr val="EEF2FB"/>
          </a:solidFill>
          <a:ln w="12700">
            <a:solidFill>
              <a:srgbClr val="EEF2FB"/>
            </a:solidFill>
            <a:prstDash val="solid"/>
          </a:ln>
        </p:spPr>
      </p:sp>
      <p:sp>
        <p:nvSpPr>
          <p:cNvPr id="20" name="Text 18"/>
          <p:cNvSpPr txBox="1"/>
          <p:nvPr/>
        </p:nvSpPr>
        <p:spPr>
          <a:xfrm>
            <a:off x="6172200" y="2633472"/>
            <a:ext cx="233172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N ∈ {180, 360}</a:t>
            </a:r>
            <a:endParaRPr lang="en-US" sz="2800" dirty="0"/>
          </a:p>
        </p:txBody>
      </p:sp>
      <p:sp>
        <p:nvSpPr>
          <p:cNvPr id="21" name="Text 19"/>
          <p:cNvSpPr txBox="1"/>
          <p:nvPr/>
        </p:nvSpPr>
        <p:spPr>
          <a:xfrm>
            <a:off x="6172200" y="3163824"/>
            <a:ext cx="233172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exercise intervals</a:t>
            </a:r>
            <a:endParaRPr lang="en-US" sz="1100" dirty="0"/>
          </a:p>
        </p:txBody>
      </p:sp>
      <p:sp>
        <p:nvSpPr>
          <p:cNvPr id="22" name="Text 20"/>
          <p:cNvSpPr txBox="1"/>
          <p:nvPr/>
        </p:nvSpPr>
        <p:spPr>
          <a:xfrm>
            <a:off x="457200" y="3931920"/>
            <a:ext cx="8229600" cy="548640"/>
          </a:xfrm>
          <a:prstGeom prst="rect">
            <a:avLst/>
          </a:prstGeom>
          <a:noFill/>
          <a:ln/>
        </p:spPr>
        <p:txBody>
          <a:bodyPr wrap="square" lIns="0" tIns="0" rIns="0" bIns="0" rtlCol="0" anchor="ctr"/>
          <a:lstStyle/>
          <a:p>
            <a:pPr marL="0" indent="0">
              <a:buNone/>
            </a:pPr>
            <a:r>
              <a:rPr lang="en-US" sz="1300" dirty="0">
                <a:solidFill>
                  <a:srgbClr val="1B1B1B"/>
                </a:solidFill>
                <a:latin typeface="Calibri" pitchFamily="34" charset="0"/>
                <a:ea typeface="Calibri" pitchFamily="34" charset="-122"/>
                <a:cs typeface="Calibri" pitchFamily="34" charset="-120"/>
              </a:rPr>
              <a:t>Dividends at d = 5/24, 11/24, 17/24 (plot markers u = T − t = 13/24, 7/24, 1/24). Jump S → (1−δ)S, then exercise decision.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What Part 1 explains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Part 1 · the shape of the exercise boundary in Cox &amp; Rubinstein's Fig. 5-37</a:t>
            </a:r>
            <a:endParaRPr lang="en-US" sz="1300" dirty="0"/>
          </a:p>
        </p:txBody>
      </p:sp>
      <p:pic>
        <p:nvPicPr>
          <p:cNvPr id="4" name="Image 0" descr="figures/p1_boundaries.png"/>
          <p:cNvPicPr>
            <a:picLocks noChangeAspect="1"/>
          </p:cNvPicPr>
          <p:nvPr/>
        </p:nvPicPr>
        <p:blipFill>
          <a:blip r:embed="rId3"/>
          <a:stretch>
            <a:fillRect/>
          </a:stretch>
        </p:blipFill>
        <p:spPr>
          <a:xfrm>
            <a:off x="457200" y="1188720"/>
            <a:ext cx="5669280" cy="2267712"/>
          </a:xfrm>
          <a:prstGeom prst="rect">
            <a:avLst/>
          </a:prstGeom>
        </p:spPr>
      </p:pic>
      <p:sp>
        <p:nvSpPr>
          <p:cNvPr id="5" name="Shape 2"/>
          <p:cNvSpPr/>
          <p:nvPr/>
        </p:nvSpPr>
        <p:spPr>
          <a:xfrm>
            <a:off x="6309360" y="1188720"/>
            <a:ext cx="2377440" cy="3383280"/>
          </a:xfrm>
          <a:prstGeom prst="roundRect">
            <a:avLst>
              <a:gd name="adj" fmla="val 3077"/>
            </a:avLst>
          </a:prstGeom>
          <a:solidFill>
            <a:srgbClr val="EEF2FB"/>
          </a:solidFill>
          <a:ln w="12700">
            <a:solidFill>
              <a:srgbClr val="EEF2FB"/>
            </a:solidFill>
            <a:prstDash val="solid"/>
          </a:ln>
        </p:spPr>
      </p:sp>
      <p:sp>
        <p:nvSpPr>
          <p:cNvPr id="6" name="Text 3"/>
          <p:cNvSpPr txBox="1"/>
          <p:nvPr/>
        </p:nvSpPr>
        <p:spPr>
          <a:xfrm>
            <a:off x="6446520" y="1280160"/>
            <a:ext cx="2103120" cy="3200400"/>
          </a:xfrm>
          <a:prstGeom prst="rect">
            <a:avLst/>
          </a:prstGeom>
          <a:noFill/>
          <a:ln/>
        </p:spPr>
        <p:txBody>
          <a:bodyPr wrap="square" lIns="0" tIns="0" rIns="0" bIns="0" rtlCol="0" anchor="t"/>
          <a:lstStyle/>
          <a:p>
            <a:pPr marL="0" indent="0">
              <a:spcAft>
                <a:spcPts val="500"/>
              </a:spcAft>
              <a:buNone/>
            </a:pPr>
            <a:r>
              <a:rPr lang="en-US" sz="1300" b="1" dirty="0">
                <a:solidFill>
                  <a:srgbClr val="1E2761"/>
                </a:solidFill>
                <a:latin typeface="Cambria" pitchFamily="34" charset="0"/>
                <a:ea typeface="Cambria" pitchFamily="34" charset="-122"/>
                <a:cs typeface="Cambria" pitchFamily="34" charset="-120"/>
              </a:rPr>
              <a:t>Read the plot</a:t>
            </a:r>
            <a:endParaRPr lang="en-US" sz="1100" dirty="0"/>
          </a:p>
          <a:p>
            <a:pPr marL="0" indent="0">
              <a:spcAft>
                <a:spcPts val="500"/>
              </a:spcAft>
              <a:buNone/>
            </a:pPr>
            <a:r>
              <a:rPr lang="en-US" sz="1100" dirty="0">
                <a:solidFill>
                  <a:srgbClr val="1B1B1B"/>
                </a:solidFill>
                <a:latin typeface="Calibri" pitchFamily="34" charset="0"/>
                <a:ea typeface="Calibri" pitchFamily="34" charset="-122"/>
                <a:cs typeface="Calibri" pitchFamily="34" charset="-120"/>
              </a:rPr>
              <a:t>Horizontal axis u = T − t: calendar time advances RIGHT → LEFT.</a:t>
            </a:r>
            <a:endParaRPr lang="en-US" sz="1100" dirty="0"/>
          </a:p>
          <a:p>
            <a:pPr marL="0" indent="0">
              <a:spcAft>
                <a:spcPts val="500"/>
              </a:spcAft>
              <a:buNone/>
            </a:pPr>
            <a:r>
              <a:rPr lang="en-US" sz="1100" dirty="0">
                <a:solidFill>
                  <a:srgbClr val="1B1B1B"/>
                </a:solidFill>
                <a:latin typeface="Calibri" pitchFamily="34" charset="0"/>
                <a:ea typeface="Calibri" pitchFamily="34" charset="-122"/>
                <a:cs typeface="Calibri" pitchFamily="34" charset="-120"/>
              </a:rPr>
              <a:t>δ = 0: smooth curve rising to K at maturity.</a:t>
            </a:r>
            <a:endParaRPr lang="en-US" sz="1100" dirty="0"/>
          </a:p>
          <a:p>
            <a:pPr marL="0" indent="0">
              <a:spcAft>
                <a:spcPts val="500"/>
              </a:spcAft>
              <a:buNone/>
            </a:pPr>
            <a:r>
              <a:rPr lang="en-US" sz="1100" dirty="0">
                <a:solidFill>
                  <a:srgbClr val="1B1B1B"/>
                </a:solidFill>
                <a:latin typeface="Calibri" pitchFamily="34" charset="0"/>
                <a:ea typeface="Calibri" pitchFamily="34" charset="-122"/>
                <a:cs typeface="Calibri" pitchFamily="34" charset="-120"/>
              </a:rPr>
              <a:t>δ = 1.25%: boundary drops to ≈ 0 just before each dividend (right of each dotted line) …</a:t>
            </a:r>
            <a:endParaRPr lang="en-US" sz="1100" dirty="0"/>
          </a:p>
          <a:p>
            <a:pPr marL="0" indent="0">
              <a:spcAft>
                <a:spcPts val="500"/>
              </a:spcAft>
              <a:buNone/>
            </a:pPr>
            <a:r>
              <a:rPr lang="en-US" sz="1100" dirty="0">
                <a:solidFill>
                  <a:srgbClr val="1B1B1B"/>
                </a:solidFill>
                <a:latin typeface="Calibri" pitchFamily="34" charset="0"/>
                <a:ea typeface="Calibri" pitchFamily="34" charset="-122"/>
                <a:cs typeface="Calibri" pitchFamily="34" charset="-120"/>
              </a:rPr>
              <a:t>… rises along a straight line as u grows …</a:t>
            </a:r>
            <a:endParaRPr lang="en-US" sz="1100" dirty="0"/>
          </a:p>
          <a:p>
            <a:pPr marL="0" indent="0">
              <a:spcAft>
                <a:spcPts val="500"/>
              </a:spcAft>
              <a:buNone/>
            </a:pPr>
            <a:r>
              <a:rPr lang="en-US" sz="1100" dirty="0">
                <a:solidFill>
                  <a:srgbClr val="1B1B1B"/>
                </a:solidFill>
                <a:latin typeface="Calibri" pitchFamily="34" charset="0"/>
                <a:ea typeface="Calibri" pitchFamily="34" charset="-122"/>
                <a:cs typeface="Calibri" pitchFamily="34" charset="-120"/>
              </a:rPr>
              <a:t>… and jumps UP right after the dividend (left of the line).</a:t>
            </a:r>
            <a:endParaRPr lang="en-US" sz="1100" dirty="0"/>
          </a:p>
        </p:txBody>
      </p:sp>
      <p:sp>
        <p:nvSpPr>
          <p:cNvPr id="7" name="Text 4"/>
          <p:cNvSpPr txBox="1"/>
          <p:nvPr/>
        </p:nvSpPr>
        <p:spPr>
          <a:xfrm>
            <a:off x="457200" y="4754880"/>
            <a:ext cx="8229600" cy="274320"/>
          </a:xfrm>
          <a:prstGeom prst="rect">
            <a:avLst/>
          </a:prstGeom>
          <a:noFill/>
          <a:ln/>
        </p:spPr>
        <p:txBody>
          <a:bodyPr wrap="square" lIns="0" tIns="0" rIns="0" bIns="0" rtlCol="0" anchor="ctr"/>
          <a:lstStyle/>
          <a:p>
            <a:pPr marL="0" indent="0">
              <a:buNone/>
            </a:pPr>
            <a:r>
              <a:rPr lang="en-US" sz="900" i="1" dirty="0">
                <a:solidFill>
                  <a:srgbClr val="5A5F6E"/>
                </a:solidFill>
                <a:latin typeface="Calibri" pitchFamily="34" charset="0"/>
                <a:ea typeface="Calibri" pitchFamily="34" charset="-122"/>
                <a:cs typeface="Calibri" pitchFamily="34" charset="-120"/>
              </a:rPr>
              <a:t>Our grid solver, N = 360 (solid) and 180 (dashed); it agrees with the supplied reference to ≈1e-3 $ in the boundary.</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400" b="1" dirty="0">
                <a:solidFill>
                  <a:srgbClr val="1E2761"/>
                </a:solidFill>
                <a:latin typeface="Cambria" pitchFamily="34" charset="0"/>
                <a:ea typeface="Cambria" pitchFamily="34" charset="-122"/>
                <a:cs typeface="Cambria" pitchFamily="34" charset="-120"/>
              </a:rPr>
              <a:t>Item 1 · Never exercise the put just before the jump</a:t>
            </a:r>
            <a:endParaRPr lang="en-US" sz="24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Part 1 · V(d⁻, s) = V(d⁺, (1 − δ)s)</a:t>
            </a:r>
            <a:endParaRPr lang="en-US" sz="1300" dirty="0"/>
          </a:p>
        </p:txBody>
      </p:sp>
      <p:sp>
        <p:nvSpPr>
          <p:cNvPr id="4" name="Shape 2"/>
          <p:cNvSpPr/>
          <p:nvPr/>
        </p:nvSpPr>
        <p:spPr>
          <a:xfrm>
            <a:off x="457200" y="1188720"/>
            <a:ext cx="4572000" cy="3474720"/>
          </a:xfrm>
          <a:prstGeom prst="roundRect">
            <a:avLst>
              <a:gd name="adj" fmla="val 2105"/>
            </a:avLst>
          </a:prstGeom>
          <a:solidFill>
            <a:srgbClr val="EEF2FB"/>
          </a:solidFill>
          <a:ln w="12700">
            <a:solidFill>
              <a:srgbClr val="EEF2FB"/>
            </a:solidFill>
            <a:prstDash val="solid"/>
          </a:ln>
        </p:spPr>
      </p:sp>
      <p:sp>
        <p:nvSpPr>
          <p:cNvPr id="5" name="Text 3"/>
          <p:cNvSpPr txBox="1"/>
          <p:nvPr/>
        </p:nvSpPr>
        <p:spPr>
          <a:xfrm>
            <a:off x="594360" y="1280160"/>
            <a:ext cx="4297680" cy="3291840"/>
          </a:xfrm>
          <a:prstGeom prst="rect">
            <a:avLst/>
          </a:prstGeom>
          <a:noFill/>
          <a:ln/>
        </p:spPr>
        <p:txBody>
          <a:bodyPr wrap="square" lIns="0" tIns="0" rIns="0" bIns="0" rtlCol="0" anchor="t"/>
          <a:lstStyle/>
          <a:p>
            <a:pPr marL="0" indent="0">
              <a:spcAft>
                <a:spcPts val="500"/>
              </a:spcAft>
              <a:buNone/>
            </a:pPr>
            <a:r>
              <a:rPr lang="en-US" sz="1400" b="1" dirty="0">
                <a:solidFill>
                  <a:srgbClr val="1E2761"/>
                </a:solidFill>
                <a:latin typeface="Cambria" pitchFamily="34" charset="0"/>
                <a:ea typeface="Cambria" pitchFamily="34" charset="-122"/>
                <a:cs typeface="Cambria" pitchFamily="34" charset="-120"/>
              </a:rPr>
              <a:t>Argument</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Just before the jump: exercise (K − s)⁺, or hold through it.</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No time passes from d⁻ to d⁺ and the put gets no dividend, so holding is worth V(d⁺, (1 − δ)s).</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 V(d⁻, s) = max{ (K − s)⁺ , V(d⁺, (1 − δ)s) }.</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Exercise just after the jump is always possible:</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V(d⁺, (1 − δ)s) ≥ K − (1 − δ)s = (K − s) + δs &gt; K − s.</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 the max is always the second term: the identity.</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Before vs after: after pays δs more, with no interest lost ⇒ apply the jump, then decide.</a:t>
            </a:r>
            <a:endParaRPr lang="en-US" sz="1200" dirty="0"/>
          </a:p>
        </p:txBody>
      </p:sp>
      <p:pic>
        <p:nvPicPr>
          <p:cNvPr id="6" name="Image 0" descr="figures/p1_pre_jump_panel1.png"/>
          <p:cNvPicPr>
            <a:picLocks noChangeAspect="1"/>
          </p:cNvPicPr>
          <p:nvPr/>
        </p:nvPicPr>
        <p:blipFill>
          <a:blip r:embed="rId3"/>
          <a:stretch>
            <a:fillRect/>
          </a:stretch>
        </p:blipFill>
        <p:spPr>
          <a:xfrm>
            <a:off x="5212080" y="1188720"/>
            <a:ext cx="3474720" cy="2548128"/>
          </a:xfrm>
          <a:prstGeom prst="rect">
            <a:avLst/>
          </a:prstGeom>
        </p:spPr>
      </p:pic>
      <p:sp>
        <p:nvSpPr>
          <p:cNvPr id="7" name="Text 4"/>
          <p:cNvSpPr txBox="1"/>
          <p:nvPr/>
        </p:nvSpPr>
        <p:spPr>
          <a:xfrm>
            <a:off x="5212080" y="3840480"/>
            <a:ext cx="3474720" cy="731520"/>
          </a:xfrm>
          <a:prstGeom prst="rect">
            <a:avLst/>
          </a:prstGeom>
          <a:noFill/>
          <a:ln/>
        </p:spPr>
        <p:txBody>
          <a:bodyPr wrap="square" lIns="0" tIns="0" rIns="0" bIns="0" rtlCol="0" anchor="t"/>
          <a:lstStyle/>
          <a:p>
            <a:pPr marL="0" indent="0">
              <a:buNone/>
            </a:pPr>
            <a:r>
              <a:rPr lang="en-US" sz="1050" dirty="0">
                <a:solidFill>
                  <a:srgbClr val="5A5F6E"/>
                </a:solidFill>
                <a:latin typeface="Calibri" pitchFamily="34" charset="0"/>
                <a:ea typeface="Calibri" pitchFamily="34" charset="-122"/>
                <a:cs typeface="Calibri" pitchFamily="34" charset="-120"/>
              </a:rPr>
              <a:t>At d₃ the gap V(d⁻,s) − (K − s) equals δs exactly wherever the put is exercised at d⁺ (s ≲ 90).</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Item 2 · Why b falls to zero before a dividend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Part 1 · b(d − ε) ≤ K(1 − e^(−rε)) / δ</a:t>
            </a:r>
            <a:endParaRPr lang="en-US" sz="1300" dirty="0"/>
          </a:p>
        </p:txBody>
      </p:sp>
      <p:sp>
        <p:nvSpPr>
          <p:cNvPr id="4" name="Shape 2"/>
          <p:cNvSpPr/>
          <p:nvPr/>
        </p:nvSpPr>
        <p:spPr>
          <a:xfrm>
            <a:off x="457200" y="1188720"/>
            <a:ext cx="4023360" cy="1920240"/>
          </a:xfrm>
          <a:prstGeom prst="roundRect">
            <a:avLst>
              <a:gd name="adj" fmla="val 3810"/>
            </a:avLst>
          </a:prstGeom>
          <a:solidFill>
            <a:srgbClr val="EEF2FB"/>
          </a:solidFill>
          <a:ln w="12700">
            <a:solidFill>
              <a:srgbClr val="EEF2FB"/>
            </a:solidFill>
            <a:prstDash val="solid"/>
          </a:ln>
        </p:spPr>
      </p:sp>
      <p:sp>
        <p:nvSpPr>
          <p:cNvPr id="5" name="Text 3"/>
          <p:cNvSpPr txBox="1"/>
          <p:nvPr/>
        </p:nvSpPr>
        <p:spPr>
          <a:xfrm>
            <a:off x="594360" y="1280160"/>
            <a:ext cx="3749040" cy="1737360"/>
          </a:xfrm>
          <a:prstGeom prst="rect">
            <a:avLst/>
          </a:prstGeom>
          <a:noFill/>
          <a:ln/>
        </p:spPr>
        <p:txBody>
          <a:bodyPr wrap="square" lIns="0" tIns="0" rIns="0" bIns="0" rtlCol="0" anchor="t"/>
          <a:lstStyle/>
          <a:p>
            <a:pPr marL="0" indent="0">
              <a:spcAft>
                <a:spcPts val="500"/>
              </a:spcAft>
              <a:buNone/>
            </a:pPr>
            <a:r>
              <a:rPr lang="en-US" sz="1400" b="1" dirty="0">
                <a:solidFill>
                  <a:srgbClr val="1E2761"/>
                </a:solidFill>
                <a:latin typeface="Cambria" pitchFamily="34" charset="0"/>
                <a:ea typeface="Cambria" pitchFamily="34" charset="-122"/>
                <a:cs typeface="Cambria" pitchFamily="34" charset="-120"/>
              </a:rPr>
              <a:t>Lower bound (wait, then exercise)</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t = d_k − ε, after d_{k−1}: no dividend in (t, d_k).</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Strategy: wait until d_k⁺ and exercise. Using (x)⁺ ≥ x and E[S_{d⁻} | S_t = s] = s e^{rε}:</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V(t, s) ≥ e^{−rε} E[K − (1 − δ)S_{d⁻}] = K e^{−rε} − (1 − δ)s.</a:t>
            </a:r>
            <a:endParaRPr lang="en-US" sz="1200" dirty="0"/>
          </a:p>
        </p:txBody>
      </p:sp>
      <p:sp>
        <p:nvSpPr>
          <p:cNvPr id="6" name="Shape 4"/>
          <p:cNvSpPr/>
          <p:nvPr/>
        </p:nvSpPr>
        <p:spPr>
          <a:xfrm>
            <a:off x="4663440" y="1188720"/>
            <a:ext cx="4023360" cy="1920240"/>
          </a:xfrm>
          <a:prstGeom prst="roundRect">
            <a:avLst>
              <a:gd name="adj" fmla="val 3810"/>
            </a:avLst>
          </a:prstGeom>
          <a:solidFill>
            <a:srgbClr val="EEF2FB"/>
          </a:solidFill>
          <a:ln w="12700">
            <a:solidFill>
              <a:srgbClr val="EEF2FB"/>
            </a:solidFill>
            <a:prstDash val="solid"/>
          </a:ln>
        </p:spPr>
      </p:sp>
      <p:sp>
        <p:nvSpPr>
          <p:cNvPr id="7" name="Text 5"/>
          <p:cNvSpPr txBox="1"/>
          <p:nvPr/>
        </p:nvSpPr>
        <p:spPr>
          <a:xfrm>
            <a:off x="4800600" y="1280160"/>
            <a:ext cx="3749040" cy="1737360"/>
          </a:xfrm>
          <a:prstGeom prst="rect">
            <a:avLst/>
          </a:prstGeom>
          <a:noFill/>
          <a:ln/>
        </p:spPr>
        <p:txBody>
          <a:bodyPr wrap="square" lIns="0" tIns="0" rIns="0" bIns="0" rtlCol="0" anchor="t"/>
          <a:lstStyle/>
          <a:p>
            <a:pPr marL="0" indent="0">
              <a:spcAft>
                <a:spcPts val="500"/>
              </a:spcAft>
              <a:buNone/>
            </a:pPr>
            <a:r>
              <a:rPr lang="en-US" sz="1400" b="1" dirty="0">
                <a:solidFill>
                  <a:srgbClr val="1E2761"/>
                </a:solidFill>
                <a:latin typeface="Cambria" pitchFamily="34" charset="0"/>
                <a:ea typeface="Cambria" pitchFamily="34" charset="-122"/>
                <a:cs typeface="Cambria" pitchFamily="34" charset="-120"/>
              </a:rPr>
              <a:t>Cap on the boundary</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If s is in the exercise region, V = K − s, so</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K − s ≥ K e^{−rε} − (1 − δ)s  ⇔  δs ≤ K(1 − e^{−rε}).</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 b(d − ε) ≤ K(1 − e^{−rε})/δ ≈ K r ε / δ → 0 as ε ↓ 0.</a:t>
            </a:r>
            <a:endParaRPr lang="en-US" sz="1200" dirty="0"/>
          </a:p>
        </p:txBody>
      </p:sp>
      <p:sp>
        <p:nvSpPr>
          <p:cNvPr id="8" name="Shape 6"/>
          <p:cNvSpPr/>
          <p:nvPr/>
        </p:nvSpPr>
        <p:spPr>
          <a:xfrm>
            <a:off x="457200" y="3291840"/>
            <a:ext cx="8229600" cy="1280160"/>
          </a:xfrm>
          <a:prstGeom prst="roundRect">
            <a:avLst>
              <a:gd name="adj" fmla="val 5714"/>
            </a:avLst>
          </a:prstGeom>
          <a:solidFill>
            <a:srgbClr val="EEF2FB"/>
          </a:solidFill>
          <a:ln w="12700">
            <a:solidFill>
              <a:srgbClr val="EEF2FB"/>
            </a:solidFill>
            <a:prstDash val="solid"/>
          </a:ln>
        </p:spPr>
      </p:sp>
      <p:sp>
        <p:nvSpPr>
          <p:cNvPr id="9" name="Text 7"/>
          <p:cNvSpPr txBox="1"/>
          <p:nvPr/>
        </p:nvSpPr>
        <p:spPr>
          <a:xfrm>
            <a:off x="594360" y="3383280"/>
            <a:ext cx="7955280" cy="1097280"/>
          </a:xfrm>
          <a:prstGeom prst="rect">
            <a:avLst/>
          </a:prstGeom>
          <a:noFill/>
          <a:ln/>
        </p:spPr>
        <p:txBody>
          <a:bodyPr wrap="square" lIns="0" tIns="0" rIns="0" bIns="0" rtlCol="0" anchor="t"/>
          <a:lstStyle/>
          <a:p>
            <a:pPr marL="0" indent="0">
              <a:spcAft>
                <a:spcPts val="500"/>
              </a:spcAft>
              <a:buNone/>
            </a:pPr>
            <a:r>
              <a:rPr lang="en-US" sz="1400" b="1" dirty="0">
                <a:solidFill>
                  <a:srgbClr val="1E2761"/>
                </a:solidFill>
                <a:latin typeface="Cambria" pitchFamily="34" charset="0"/>
                <a:ea typeface="Cambria" pitchFamily="34" charset="-122"/>
                <a:cs typeface="Cambria" pitchFamily="34" charset="-120"/>
              </a:rPr>
              <a:t>Same bound on the exercise grid</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d_k = t_{j_d} is itself an exercise date, so 'stop at t_{j_d} after the jump' is an admissible grid stopping time from t_j &lt; t_{j_d}.</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The same computation gives the bound with ε = (j_d − j)h.</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Item 2 · What the bound implies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Part 1 · proximity, grid distance, the jump and the maturity limit</a:t>
            </a:r>
            <a:endParaRPr lang="en-US" sz="1300" dirty="0"/>
          </a:p>
        </p:txBody>
      </p:sp>
      <p:pic>
        <p:nvPicPr>
          <p:cNvPr id="4" name="Image 0" descr="figures/p1_cap_zoom.png"/>
          <p:cNvPicPr>
            <a:picLocks noChangeAspect="1"/>
          </p:cNvPicPr>
          <p:nvPr/>
        </p:nvPicPr>
        <p:blipFill>
          <a:blip r:embed="rId3"/>
          <a:stretch>
            <a:fillRect/>
          </a:stretch>
        </p:blipFill>
        <p:spPr>
          <a:xfrm>
            <a:off x="731520" y="1097280"/>
            <a:ext cx="7680960" cy="2534717"/>
          </a:xfrm>
          <a:prstGeom prst="rect">
            <a:avLst/>
          </a:prstGeom>
        </p:spPr>
      </p:pic>
      <p:sp>
        <p:nvSpPr>
          <p:cNvPr id="5" name="Shape 2"/>
          <p:cNvSpPr/>
          <p:nvPr/>
        </p:nvSpPr>
        <p:spPr>
          <a:xfrm>
            <a:off x="457200" y="3767328"/>
            <a:ext cx="1965960" cy="1051560"/>
          </a:xfrm>
          <a:prstGeom prst="roundRect">
            <a:avLst>
              <a:gd name="adj" fmla="val 6957"/>
            </a:avLst>
          </a:prstGeom>
          <a:solidFill>
            <a:srgbClr val="EEF2FB"/>
          </a:solidFill>
          <a:ln w="12700">
            <a:solidFill>
              <a:srgbClr val="EEF2FB"/>
            </a:solidFill>
            <a:prstDash val="solid"/>
          </a:ln>
        </p:spPr>
      </p:sp>
      <p:sp>
        <p:nvSpPr>
          <p:cNvPr id="6" name="Text 3"/>
          <p:cNvSpPr txBox="1"/>
          <p:nvPr/>
        </p:nvSpPr>
        <p:spPr>
          <a:xfrm>
            <a:off x="594360" y="3840480"/>
            <a:ext cx="1691640" cy="548640"/>
          </a:xfrm>
          <a:prstGeom prst="rect">
            <a:avLst/>
          </a:prstGeom>
          <a:noFill/>
          <a:ln/>
        </p:spPr>
        <p:txBody>
          <a:bodyPr wrap="square" lIns="0" tIns="0" rIns="0" bIns="0" rtlCol="0" anchor="ctr"/>
          <a:lstStyle/>
          <a:p>
            <a:pPr marL="0" indent="0">
              <a:buNone/>
            </a:pPr>
            <a:r>
              <a:rPr lang="en-US" sz="1800" b="1" dirty="0">
                <a:solidFill>
                  <a:srgbClr val="EB6834"/>
                </a:solidFill>
                <a:latin typeface="Cambria" pitchFamily="34" charset="0"/>
                <a:ea typeface="Cambria" pitchFamily="34" charset="-122"/>
                <a:cs typeface="Cambria" pitchFamily="34" charset="-120"/>
              </a:rPr>
              <a:t>ε* ≈ δs/(rK)</a:t>
            </a:r>
            <a:endParaRPr lang="en-US" sz="1800" dirty="0"/>
          </a:p>
        </p:txBody>
      </p:sp>
      <p:sp>
        <p:nvSpPr>
          <p:cNvPr id="7" name="Text 4"/>
          <p:cNvSpPr txBox="1"/>
          <p:nvPr/>
        </p:nvSpPr>
        <p:spPr>
          <a:xfrm>
            <a:off x="594360" y="4370832"/>
            <a:ext cx="169164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no exercise within ε*(s): 9 days (s=10), 75 (s=80)</a:t>
            </a:r>
            <a:endParaRPr lang="en-US" sz="1100" dirty="0"/>
          </a:p>
        </p:txBody>
      </p:sp>
      <p:sp>
        <p:nvSpPr>
          <p:cNvPr id="8" name="Shape 5"/>
          <p:cNvSpPr/>
          <p:nvPr/>
        </p:nvSpPr>
        <p:spPr>
          <a:xfrm>
            <a:off x="2542032" y="3767328"/>
            <a:ext cx="1965960" cy="1051560"/>
          </a:xfrm>
          <a:prstGeom prst="roundRect">
            <a:avLst>
              <a:gd name="adj" fmla="val 6957"/>
            </a:avLst>
          </a:prstGeom>
          <a:solidFill>
            <a:srgbClr val="EEF2FB"/>
          </a:solidFill>
          <a:ln w="12700">
            <a:solidFill>
              <a:srgbClr val="EEF2FB"/>
            </a:solidFill>
            <a:prstDash val="solid"/>
          </a:ln>
        </p:spPr>
      </p:sp>
      <p:sp>
        <p:nvSpPr>
          <p:cNvPr id="9" name="Text 6"/>
          <p:cNvSpPr txBox="1"/>
          <p:nvPr/>
        </p:nvSpPr>
        <p:spPr>
          <a:xfrm>
            <a:off x="2679192" y="3840480"/>
            <a:ext cx="1691640" cy="548640"/>
          </a:xfrm>
          <a:prstGeom prst="rect">
            <a:avLst/>
          </a:prstGeom>
          <a:noFill/>
          <a:ln/>
        </p:spPr>
        <p:txBody>
          <a:bodyPr wrap="square" lIns="0" tIns="0" rIns="0" bIns="0" rtlCol="0" anchor="ctr"/>
          <a:lstStyle/>
          <a:p>
            <a:pPr marL="0" indent="0">
              <a:buNone/>
            </a:pPr>
            <a:r>
              <a:rPr lang="en-US" sz="2000" b="1" dirty="0">
                <a:solidFill>
                  <a:srgbClr val="1E2761"/>
                </a:solidFill>
                <a:latin typeface="Cambria" pitchFamily="34" charset="0"/>
                <a:ea typeface="Cambria" pitchFamily="34" charset="-122"/>
                <a:cs typeface="Cambria" pitchFamily="34" charset="-120"/>
              </a:rPr>
              <a:t>1.63 → 0.81</a:t>
            </a:r>
            <a:endParaRPr lang="en-US" sz="2000" dirty="0"/>
          </a:p>
        </p:txBody>
      </p:sp>
      <p:sp>
        <p:nvSpPr>
          <p:cNvPr id="10" name="Text 7"/>
          <p:cNvSpPr txBox="1"/>
          <p:nvPr/>
        </p:nvSpPr>
        <p:spPr>
          <a:xfrm>
            <a:off x="2679192" y="4370832"/>
            <a:ext cx="169164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cap one step before: &gt; 0 on the grid, → 0 linearly in h</a:t>
            </a:r>
            <a:endParaRPr lang="en-US" sz="1100" dirty="0"/>
          </a:p>
        </p:txBody>
      </p:sp>
      <p:sp>
        <p:nvSpPr>
          <p:cNvPr id="11" name="Shape 8"/>
          <p:cNvSpPr/>
          <p:nvPr/>
        </p:nvSpPr>
        <p:spPr>
          <a:xfrm>
            <a:off x="4626864" y="3767328"/>
            <a:ext cx="1965960" cy="1051560"/>
          </a:xfrm>
          <a:prstGeom prst="roundRect">
            <a:avLst>
              <a:gd name="adj" fmla="val 6957"/>
            </a:avLst>
          </a:prstGeom>
          <a:solidFill>
            <a:srgbClr val="EEF2FB"/>
          </a:solidFill>
          <a:ln w="12700">
            <a:solidFill>
              <a:srgbClr val="EEF2FB"/>
            </a:solidFill>
            <a:prstDash val="solid"/>
          </a:ln>
        </p:spPr>
      </p:sp>
      <p:sp>
        <p:nvSpPr>
          <p:cNvPr id="12" name="Text 9"/>
          <p:cNvSpPr txBox="1"/>
          <p:nvPr/>
        </p:nvSpPr>
        <p:spPr>
          <a:xfrm>
            <a:off x="4764024" y="3840480"/>
            <a:ext cx="1691640" cy="548640"/>
          </a:xfrm>
          <a:prstGeom prst="rect">
            <a:avLst/>
          </a:prstGeom>
          <a:noFill/>
          <a:ln/>
        </p:spPr>
        <p:txBody>
          <a:bodyPr wrap="square" lIns="0" tIns="0" rIns="0" bIns="0" rtlCol="0" anchor="ctr"/>
          <a:lstStyle/>
          <a:p>
            <a:pPr marL="0" indent="0">
              <a:buNone/>
            </a:pPr>
            <a:r>
              <a:rPr lang="en-US" sz="1600" b="1" dirty="0">
                <a:solidFill>
                  <a:srgbClr val="1E2761"/>
                </a:solidFill>
                <a:latin typeface="Cambria" pitchFamily="34" charset="0"/>
                <a:ea typeface="Cambria" pitchFamily="34" charset="-122"/>
                <a:cs typeface="Cambria" pitchFamily="34" charset="-120"/>
              </a:rPr>
              <a:t>0.69 · 0.75 · 0.89 K</a:t>
            </a:r>
            <a:endParaRPr lang="en-US" sz="1600" dirty="0"/>
          </a:p>
        </p:txBody>
      </p:sp>
      <p:sp>
        <p:nvSpPr>
          <p:cNvPr id="13" name="Text 10"/>
          <p:cNvSpPr txBox="1"/>
          <p:nvPr/>
        </p:nvSpPr>
        <p:spPr>
          <a:xfrm>
            <a:off x="4764024" y="4370832"/>
            <a:ext cx="169164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upward jump just after d₁, d₂, d₃ (calendar time)</a:t>
            </a:r>
            <a:endParaRPr lang="en-US" sz="1100" dirty="0"/>
          </a:p>
        </p:txBody>
      </p:sp>
      <p:sp>
        <p:nvSpPr>
          <p:cNvPr id="14" name="Shape 11"/>
          <p:cNvSpPr/>
          <p:nvPr/>
        </p:nvSpPr>
        <p:spPr>
          <a:xfrm>
            <a:off x="6711696" y="3767328"/>
            <a:ext cx="1965960" cy="1051560"/>
          </a:xfrm>
          <a:prstGeom prst="roundRect">
            <a:avLst>
              <a:gd name="adj" fmla="val 6957"/>
            </a:avLst>
          </a:prstGeom>
          <a:solidFill>
            <a:srgbClr val="EEF2FB"/>
          </a:solidFill>
          <a:ln w="12700">
            <a:solidFill>
              <a:srgbClr val="EEF2FB"/>
            </a:solidFill>
            <a:prstDash val="solid"/>
          </a:ln>
        </p:spPr>
      </p:sp>
      <p:sp>
        <p:nvSpPr>
          <p:cNvPr id="15" name="Text 12"/>
          <p:cNvSpPr txBox="1"/>
          <p:nvPr/>
        </p:nvSpPr>
        <p:spPr>
          <a:xfrm>
            <a:off x="6848856" y="3840480"/>
            <a:ext cx="1691640" cy="548640"/>
          </a:xfrm>
          <a:prstGeom prst="rect">
            <a:avLst/>
          </a:prstGeom>
          <a:noFill/>
          <a:ln/>
        </p:spPr>
        <p:txBody>
          <a:bodyPr wrap="square" lIns="0" tIns="0" rIns="0" bIns="0" rtlCol="0" anchor="ctr"/>
          <a:lstStyle/>
          <a:p>
            <a:pPr marL="0" indent="0">
              <a:buNone/>
            </a:pPr>
            <a:r>
              <a:rPr lang="en-US" sz="2000" b="1" dirty="0">
                <a:solidFill>
                  <a:srgbClr val="2A78D6"/>
                </a:solidFill>
                <a:latin typeface="Cambria" pitchFamily="34" charset="0"/>
                <a:ea typeface="Cambria" pitchFamily="34" charset="-122"/>
                <a:cs typeface="Cambria" pitchFamily="34" charset="-120"/>
              </a:rPr>
              <a:t>→ K</a:t>
            </a:r>
            <a:endParaRPr lang="en-US" sz="2000" dirty="0"/>
          </a:p>
        </p:txBody>
      </p:sp>
      <p:sp>
        <p:nvSpPr>
          <p:cNvPr id="16" name="Text 13"/>
          <p:cNvSpPr txBox="1"/>
          <p:nvPr/>
        </p:nvSpPr>
        <p:spPr>
          <a:xfrm>
            <a:off x="6848856" y="4370832"/>
            <a:ext cx="169164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after d₃ (no dividend left, r &gt; 0) b → K at maturity</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Item 3 · Dividends can only help the put</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Part 1 · V₀.₀₁₂₅ ≥ V₀ and b₀.₀₁₂₅ ≤ b₀, with equality from d₃ on</a:t>
            </a:r>
            <a:endParaRPr lang="en-US" sz="1300" dirty="0"/>
          </a:p>
        </p:txBody>
      </p:sp>
      <p:sp>
        <p:nvSpPr>
          <p:cNvPr id="4" name="Shape 2"/>
          <p:cNvSpPr/>
          <p:nvPr/>
        </p:nvSpPr>
        <p:spPr>
          <a:xfrm>
            <a:off x="457200" y="1188720"/>
            <a:ext cx="384048" cy="384048"/>
          </a:xfrm>
          <a:prstGeom prst="ellipse">
            <a:avLst/>
          </a:prstGeom>
          <a:solidFill>
            <a:srgbClr val="1E2761"/>
          </a:solidFill>
          <a:ln/>
        </p:spPr>
      </p:sp>
      <p:sp>
        <p:nvSpPr>
          <p:cNvPr id="5" name="Text 3"/>
          <p:cNvSpPr txBox="1"/>
          <p:nvPr/>
        </p:nvSpPr>
        <p:spPr>
          <a:xfrm>
            <a:off x="457200" y="11887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097280"/>
            <a:ext cx="4343400" cy="566928"/>
          </a:xfrm>
          <a:prstGeom prst="rect">
            <a:avLst/>
          </a:prstGeom>
          <a:noFill/>
          <a:ln/>
        </p:spPr>
        <p:txBody>
          <a:bodyPr wrap="square" lIns="0" tIns="0" rIns="0" bIns="0" rtlCol="0" anchor="ctr"/>
          <a:lstStyle/>
          <a:p>
            <a:pPr marL="0" indent="0">
              <a:buNone/>
            </a:pPr>
            <a:r>
              <a:rPr lang="en-US" sz="1150" dirty="0">
                <a:solidFill>
                  <a:srgbClr val="1B1B1B"/>
                </a:solidFill>
                <a:latin typeface="Calibri" pitchFamily="34" charset="0"/>
                <a:ea typeface="Calibri" pitchFamily="34" charset="-122"/>
                <a:cs typeface="Calibri" pitchFamily="34" charset="-120"/>
              </a:rPr>
              <a:t>Couple: same Brownian increments from (t_j, s): S^δ_i = S⁰_i (1−δ)^{n_ji} ≤ S⁰_i  (n_ji = dividends in (t_j, t_i])</a:t>
            </a:r>
            <a:endParaRPr lang="en-US" sz="1150" dirty="0"/>
          </a:p>
        </p:txBody>
      </p:sp>
      <p:sp>
        <p:nvSpPr>
          <p:cNvPr id="7" name="Shape 5"/>
          <p:cNvSpPr/>
          <p:nvPr/>
        </p:nvSpPr>
        <p:spPr>
          <a:xfrm>
            <a:off x="457200" y="1865376"/>
            <a:ext cx="384048" cy="384048"/>
          </a:xfrm>
          <a:prstGeom prst="ellipse">
            <a:avLst/>
          </a:prstGeom>
          <a:solidFill>
            <a:srgbClr val="1E2761"/>
          </a:solidFill>
          <a:ln/>
        </p:spPr>
      </p:sp>
      <p:sp>
        <p:nvSpPr>
          <p:cNvPr id="8" name="Text 6"/>
          <p:cNvSpPr txBox="1"/>
          <p:nvPr/>
        </p:nvSpPr>
        <p:spPr>
          <a:xfrm>
            <a:off x="457200" y="1865376"/>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1773936"/>
            <a:ext cx="4343400" cy="566928"/>
          </a:xfrm>
          <a:prstGeom prst="rect">
            <a:avLst/>
          </a:prstGeom>
          <a:noFill/>
          <a:ln/>
        </p:spPr>
        <p:txBody>
          <a:bodyPr wrap="square" lIns="0" tIns="0" rIns="0" bIns="0" rtlCol="0" anchor="ctr"/>
          <a:lstStyle/>
          <a:p>
            <a:pPr marL="0" indent="0">
              <a:buNone/>
            </a:pPr>
            <a:r>
              <a:rPr lang="en-US" sz="1150" dirty="0">
                <a:solidFill>
                  <a:srgbClr val="1B1B1B"/>
                </a:solidFill>
                <a:latin typeface="Calibri" pitchFamily="34" charset="0"/>
                <a:ea typeface="Calibri" pitchFamily="34" charset="-122"/>
                <a:cs typeface="Calibri" pitchFamily="34" charset="-120"/>
              </a:rPr>
              <a:t>Same information ⇒ same stopping times. Common τ ⇒ (K − S^δ_τ)⁺ ≥ (K − S⁰_τ)⁺ on every path</a:t>
            </a:r>
            <a:endParaRPr lang="en-US" sz="1150" dirty="0"/>
          </a:p>
        </p:txBody>
      </p:sp>
      <p:sp>
        <p:nvSpPr>
          <p:cNvPr id="10" name="Shape 8"/>
          <p:cNvSpPr/>
          <p:nvPr/>
        </p:nvSpPr>
        <p:spPr>
          <a:xfrm>
            <a:off x="457200" y="2542032"/>
            <a:ext cx="384048" cy="384048"/>
          </a:xfrm>
          <a:prstGeom prst="ellipse">
            <a:avLst/>
          </a:prstGeom>
          <a:solidFill>
            <a:srgbClr val="1E2761"/>
          </a:solidFill>
          <a:ln/>
        </p:spPr>
      </p:sp>
      <p:sp>
        <p:nvSpPr>
          <p:cNvPr id="11" name="Text 9"/>
          <p:cNvSpPr txBox="1"/>
          <p:nvPr/>
        </p:nvSpPr>
        <p:spPr>
          <a:xfrm>
            <a:off x="457200" y="2542032"/>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450592"/>
            <a:ext cx="4343400" cy="566928"/>
          </a:xfrm>
          <a:prstGeom prst="rect">
            <a:avLst/>
          </a:prstGeom>
          <a:noFill/>
          <a:ln/>
        </p:spPr>
        <p:txBody>
          <a:bodyPr wrap="square" lIns="0" tIns="0" rIns="0" bIns="0" rtlCol="0" anchor="ctr"/>
          <a:lstStyle/>
          <a:p>
            <a:pPr marL="0" indent="0">
              <a:buNone/>
            </a:pPr>
            <a:r>
              <a:rPr lang="en-US" sz="1150" dirty="0">
                <a:solidFill>
                  <a:srgbClr val="1B1B1B"/>
                </a:solidFill>
                <a:latin typeface="Calibri" pitchFamily="34" charset="0"/>
                <a:ea typeface="Calibri" pitchFamily="34" charset="-122"/>
                <a:cs typeface="Calibri" pitchFamily="34" charset="-120"/>
              </a:rPr>
              <a:t>Take discounted expectations, then sup over τ ⇒ V_δ(t_j, s) ≥ V₀(t_j, s)</a:t>
            </a:r>
            <a:endParaRPr lang="en-US" sz="1150" dirty="0"/>
          </a:p>
        </p:txBody>
      </p:sp>
      <p:sp>
        <p:nvSpPr>
          <p:cNvPr id="13" name="Shape 11"/>
          <p:cNvSpPr/>
          <p:nvPr/>
        </p:nvSpPr>
        <p:spPr>
          <a:xfrm>
            <a:off x="457200" y="3218688"/>
            <a:ext cx="384048" cy="384048"/>
          </a:xfrm>
          <a:prstGeom prst="ellipse">
            <a:avLst/>
          </a:prstGeom>
          <a:solidFill>
            <a:srgbClr val="1E2761"/>
          </a:solidFill>
          <a:ln/>
        </p:spPr>
      </p:sp>
      <p:sp>
        <p:nvSpPr>
          <p:cNvPr id="14" name="Text 12"/>
          <p:cNvSpPr txBox="1"/>
          <p:nvPr/>
        </p:nvSpPr>
        <p:spPr>
          <a:xfrm>
            <a:off x="457200" y="3218688"/>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3127248"/>
            <a:ext cx="4343400" cy="566928"/>
          </a:xfrm>
          <a:prstGeom prst="rect">
            <a:avLst/>
          </a:prstGeom>
          <a:noFill/>
          <a:ln/>
        </p:spPr>
        <p:txBody>
          <a:bodyPr wrap="square" lIns="0" tIns="0" rIns="0" bIns="0" rtlCol="0" anchor="ctr"/>
          <a:lstStyle/>
          <a:p>
            <a:pPr marL="0" indent="0">
              <a:buNone/>
            </a:pPr>
            <a:r>
              <a:rPr lang="en-US" sz="1150" dirty="0">
                <a:solidFill>
                  <a:srgbClr val="1B1B1B"/>
                </a:solidFill>
                <a:latin typeface="Calibri" pitchFamily="34" charset="0"/>
                <a:ea typeface="Calibri" pitchFamily="34" charset="-122"/>
                <a:cs typeface="Calibri" pitchFamily="34" charset="-120"/>
              </a:rPr>
              <a:t>If V_δ = K − s then K − s = V_δ ≥ V₀ ≥ K − s ⇒ V₀ = K − s: E_δ ⊆ E₀ ⇒ b_δ ≤ b₀</a:t>
            </a:r>
            <a:endParaRPr lang="en-US" sz="1150" dirty="0"/>
          </a:p>
        </p:txBody>
      </p:sp>
      <p:sp>
        <p:nvSpPr>
          <p:cNvPr id="16" name="Shape 14"/>
          <p:cNvSpPr/>
          <p:nvPr/>
        </p:nvSpPr>
        <p:spPr>
          <a:xfrm>
            <a:off x="457200" y="3895344"/>
            <a:ext cx="384048" cy="384048"/>
          </a:xfrm>
          <a:prstGeom prst="ellipse">
            <a:avLst/>
          </a:prstGeom>
          <a:solidFill>
            <a:srgbClr val="1E2761"/>
          </a:solidFill>
          <a:ln/>
        </p:spPr>
      </p:sp>
      <p:sp>
        <p:nvSpPr>
          <p:cNvPr id="17" name="Text 15"/>
          <p:cNvSpPr txBox="1"/>
          <p:nvPr/>
        </p:nvSpPr>
        <p:spPr>
          <a:xfrm>
            <a:off x="457200" y="3895344"/>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5</a:t>
            </a:r>
            <a:endParaRPr lang="en-US" sz="1400" dirty="0"/>
          </a:p>
        </p:txBody>
      </p:sp>
      <p:sp>
        <p:nvSpPr>
          <p:cNvPr id="18" name="Text 16"/>
          <p:cNvSpPr txBox="1"/>
          <p:nvPr/>
        </p:nvSpPr>
        <p:spPr>
          <a:xfrm>
            <a:off x="960120" y="3803904"/>
            <a:ext cx="4343400" cy="566928"/>
          </a:xfrm>
          <a:prstGeom prst="rect">
            <a:avLst/>
          </a:prstGeom>
          <a:noFill/>
          <a:ln/>
        </p:spPr>
        <p:txBody>
          <a:bodyPr wrap="square" lIns="0" tIns="0" rIns="0" bIns="0" rtlCol="0" anchor="ctr"/>
          <a:lstStyle/>
          <a:p>
            <a:pPr marL="0" indent="0">
              <a:buNone/>
            </a:pPr>
            <a:r>
              <a:rPr lang="en-US" sz="1150" dirty="0">
                <a:solidFill>
                  <a:srgbClr val="1B1B1B"/>
                </a:solidFill>
                <a:latin typeface="Calibri" pitchFamily="34" charset="0"/>
                <a:ea typeface="Calibri" pitchFamily="34" charset="-122"/>
                <a:cs typeface="Calibri" pitchFamily="34" charset="-120"/>
              </a:rPr>
              <a:t>t_j ≥ d₃ (incl. d₃ at the same post-jump s): no dividend left ⇒ identical problems</a:t>
            </a:r>
            <a:endParaRPr lang="en-US" sz="1150" dirty="0"/>
          </a:p>
        </p:txBody>
      </p:sp>
      <p:sp>
        <p:nvSpPr>
          <p:cNvPr id="19" name="Shape 17"/>
          <p:cNvSpPr/>
          <p:nvPr/>
        </p:nvSpPr>
        <p:spPr>
          <a:xfrm>
            <a:off x="5577840" y="1188720"/>
            <a:ext cx="3108960" cy="1051560"/>
          </a:xfrm>
          <a:prstGeom prst="roundRect">
            <a:avLst>
              <a:gd name="adj" fmla="val 6957"/>
            </a:avLst>
          </a:prstGeom>
          <a:solidFill>
            <a:srgbClr val="EEF2FB"/>
          </a:solidFill>
          <a:ln w="12700">
            <a:solidFill>
              <a:srgbClr val="EEF2FB"/>
            </a:solidFill>
            <a:prstDash val="solid"/>
          </a:ln>
        </p:spPr>
      </p:sp>
      <p:sp>
        <p:nvSpPr>
          <p:cNvPr id="20" name="Text 18"/>
          <p:cNvSpPr txBox="1"/>
          <p:nvPr/>
        </p:nvSpPr>
        <p:spPr>
          <a:xfrm>
            <a:off x="5715000" y="1261872"/>
            <a:ext cx="2834640" cy="548640"/>
          </a:xfrm>
          <a:prstGeom prst="rect">
            <a:avLst/>
          </a:prstGeom>
          <a:noFill/>
          <a:ln/>
        </p:spPr>
        <p:txBody>
          <a:bodyPr wrap="square" lIns="0" tIns="0" rIns="0" bIns="0" rtlCol="0" anchor="ctr"/>
          <a:lstStyle/>
          <a:p>
            <a:pPr marL="0" indent="0">
              <a:buNone/>
            </a:pPr>
            <a:r>
              <a:rPr lang="en-US" sz="2400" b="1" dirty="0">
                <a:solidFill>
                  <a:srgbClr val="2A78D6"/>
                </a:solidFill>
                <a:latin typeface="Cambria" pitchFamily="34" charset="0"/>
                <a:ea typeface="Cambria" pitchFamily="34" charset="-122"/>
                <a:cs typeface="Cambria" pitchFamily="34" charset="-120"/>
              </a:rPr>
              <a:t>0 %</a:t>
            </a:r>
            <a:endParaRPr lang="en-US" sz="2400" dirty="0"/>
          </a:p>
        </p:txBody>
      </p:sp>
      <p:sp>
        <p:nvSpPr>
          <p:cNvPr id="21" name="Text 19"/>
          <p:cNvSpPr txBox="1"/>
          <p:nvPr/>
        </p:nvSpPr>
        <p:spPr>
          <a:xfrm>
            <a:off x="5715000" y="1792224"/>
            <a:ext cx="283464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paths with Q_δ &lt; Q₀ under one common τ (coupled simulation, 20,000 paths)</a:t>
            </a:r>
            <a:endParaRPr lang="en-US" sz="1100" dirty="0"/>
          </a:p>
        </p:txBody>
      </p:sp>
      <p:sp>
        <p:nvSpPr>
          <p:cNvPr id="22" name="Shape 20"/>
          <p:cNvSpPr/>
          <p:nvPr/>
        </p:nvSpPr>
        <p:spPr>
          <a:xfrm>
            <a:off x="5577840" y="2331720"/>
            <a:ext cx="3108960" cy="1051560"/>
          </a:xfrm>
          <a:prstGeom prst="roundRect">
            <a:avLst>
              <a:gd name="adj" fmla="val 6957"/>
            </a:avLst>
          </a:prstGeom>
          <a:solidFill>
            <a:srgbClr val="EEF2FB"/>
          </a:solidFill>
          <a:ln w="12700">
            <a:solidFill>
              <a:srgbClr val="EEF2FB"/>
            </a:solidFill>
            <a:prstDash val="solid"/>
          </a:ln>
        </p:spPr>
      </p:sp>
      <p:sp>
        <p:nvSpPr>
          <p:cNvPr id="23" name="Text 21"/>
          <p:cNvSpPr txBox="1"/>
          <p:nvPr/>
        </p:nvSpPr>
        <p:spPr>
          <a:xfrm>
            <a:off x="5715000" y="2404872"/>
            <a:ext cx="2834640" cy="548640"/>
          </a:xfrm>
          <a:prstGeom prst="rect">
            <a:avLst/>
          </a:prstGeom>
          <a:noFill/>
          <a:ln/>
        </p:spPr>
        <p:txBody>
          <a:bodyPr wrap="square" lIns="0" tIns="0" rIns="0" bIns="0" rtlCol="0" anchor="ctr"/>
          <a:lstStyle/>
          <a:p>
            <a:pPr marL="0" indent="0">
              <a:buNone/>
            </a:pPr>
            <a:r>
              <a:rPr lang="en-US" sz="2400" b="1" dirty="0">
                <a:solidFill>
                  <a:srgbClr val="EB6834"/>
                </a:solidFill>
                <a:latin typeface="Cambria" pitchFamily="34" charset="0"/>
                <a:ea typeface="Cambria" pitchFamily="34" charset="-122"/>
                <a:cs typeface="Cambria" pitchFamily="34" charset="-120"/>
              </a:rPr>
              <a:t>12.4 %</a:t>
            </a:r>
            <a:endParaRPr lang="en-US" sz="2400" dirty="0"/>
          </a:p>
        </p:txBody>
      </p:sp>
      <p:sp>
        <p:nvSpPr>
          <p:cNvPr id="24" name="Text 22"/>
          <p:cNvSpPr txBox="1"/>
          <p:nvPr/>
        </p:nvSpPr>
        <p:spPr>
          <a:xfrm>
            <a:off x="5715000" y="2935224"/>
            <a:ext cx="283464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paths violating it when each model uses its own stopping rule</a:t>
            </a:r>
            <a:endParaRPr lang="en-US" sz="1100" dirty="0"/>
          </a:p>
        </p:txBody>
      </p:sp>
      <p:sp>
        <p:nvSpPr>
          <p:cNvPr id="25" name="Shape 23"/>
          <p:cNvSpPr/>
          <p:nvPr/>
        </p:nvSpPr>
        <p:spPr>
          <a:xfrm>
            <a:off x="5577840" y="3474720"/>
            <a:ext cx="3108960" cy="1051560"/>
          </a:xfrm>
          <a:prstGeom prst="roundRect">
            <a:avLst>
              <a:gd name="adj" fmla="val 6957"/>
            </a:avLst>
          </a:prstGeom>
          <a:solidFill>
            <a:srgbClr val="EEF2FB"/>
          </a:solidFill>
          <a:ln w="12700">
            <a:solidFill>
              <a:srgbClr val="EEF2FB"/>
            </a:solidFill>
            <a:prstDash val="solid"/>
          </a:ln>
        </p:spPr>
      </p:sp>
      <p:sp>
        <p:nvSpPr>
          <p:cNvPr id="26" name="Text 24"/>
          <p:cNvSpPr txBox="1"/>
          <p:nvPr/>
        </p:nvSpPr>
        <p:spPr>
          <a:xfrm>
            <a:off x="5715000" y="3547872"/>
            <a:ext cx="2834640" cy="548640"/>
          </a:xfrm>
          <a:prstGeom prst="rect">
            <a:avLst/>
          </a:prstGeom>
          <a:noFill/>
          <a:ln/>
        </p:spPr>
        <p:txBody>
          <a:bodyPr wrap="square" lIns="0" tIns="0" rIns="0" bIns="0" rtlCol="0" anchor="ctr"/>
          <a:lstStyle/>
          <a:p>
            <a:pPr marL="0" indent="0">
              <a:buNone/>
            </a:pPr>
            <a:r>
              <a:rPr lang="en-US" sz="2400" b="1" dirty="0">
                <a:solidFill>
                  <a:srgbClr val="1E2761"/>
                </a:solidFill>
                <a:latin typeface="Cambria" pitchFamily="34" charset="0"/>
                <a:ea typeface="Cambria" pitchFamily="34" charset="-122"/>
                <a:cs typeface="Cambria" pitchFamily="34" charset="-120"/>
              </a:rPr>
              <a:t>A = B = F = 0</a:t>
            </a:r>
            <a:endParaRPr lang="en-US" sz="2400" dirty="0"/>
          </a:p>
        </p:txBody>
      </p:sp>
      <p:sp>
        <p:nvSpPr>
          <p:cNvPr id="27" name="Text 25"/>
          <p:cNvSpPr txBox="1"/>
          <p:nvPr/>
        </p:nvSpPr>
        <p:spPr>
          <a:xfrm>
            <a:off x="5715000" y="4078224"/>
            <a:ext cx="283464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supplied reference, N = 180 and 360 (Checks slide)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Item 4 · The call must decide before the dividend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Part 1 · C(d⁻, s) = max{ (s − K)⁺ , C(d⁺, (1 − δ)s) }</a:t>
            </a:r>
            <a:endParaRPr lang="en-US" sz="1300" dirty="0"/>
          </a:p>
        </p:txBody>
      </p:sp>
      <p:sp>
        <p:nvSpPr>
          <p:cNvPr id="4" name="Shape 2"/>
          <p:cNvSpPr/>
          <p:nvPr/>
        </p:nvSpPr>
        <p:spPr>
          <a:xfrm>
            <a:off x="457200" y="1188720"/>
            <a:ext cx="4572000" cy="2834640"/>
          </a:xfrm>
          <a:prstGeom prst="roundRect">
            <a:avLst>
              <a:gd name="adj" fmla="val 2581"/>
            </a:avLst>
          </a:prstGeom>
          <a:solidFill>
            <a:srgbClr val="EEF2FB"/>
          </a:solidFill>
          <a:ln w="12700">
            <a:solidFill>
              <a:srgbClr val="EEF2FB"/>
            </a:solidFill>
            <a:prstDash val="solid"/>
          </a:ln>
        </p:spPr>
      </p:sp>
      <p:sp>
        <p:nvSpPr>
          <p:cNvPr id="5" name="Text 3"/>
          <p:cNvSpPr txBox="1"/>
          <p:nvPr/>
        </p:nvSpPr>
        <p:spPr>
          <a:xfrm>
            <a:off x="594360" y="1280160"/>
            <a:ext cx="4297680" cy="2651760"/>
          </a:xfrm>
          <a:prstGeom prst="rect">
            <a:avLst/>
          </a:prstGeom>
          <a:noFill/>
          <a:ln/>
        </p:spPr>
        <p:txBody>
          <a:bodyPr wrap="square" lIns="0" tIns="0" rIns="0" bIns="0" rtlCol="0" anchor="t"/>
          <a:lstStyle/>
          <a:p>
            <a:pPr marL="0" indent="0">
              <a:spcAft>
                <a:spcPts val="500"/>
              </a:spcAft>
              <a:buNone/>
            </a:pPr>
            <a:r>
              <a:rPr lang="en-US" sz="1400" b="1" dirty="0">
                <a:solidFill>
                  <a:srgbClr val="1E2761"/>
                </a:solidFill>
                <a:latin typeface="Cambria" pitchFamily="34" charset="0"/>
                <a:ea typeface="Cambria" pitchFamily="34" charset="-122"/>
                <a:cs typeface="Cambria" pitchFamily="34" charset="-120"/>
              </a:rPr>
              <a:t>Argument</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The jump LOWERS the call's intrinsic value: ((1 − δ)s − K)⁺ ≤ (s − K)⁺.</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Exercising just before delivers the cum-dividend stock, i.e. captures the dividend.</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 C(d⁻, s) = max{(s − K)⁺, C(d⁺, (1 − δ)s)}, and the max CAN bind (large s).</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Implementation: test call exercise BEFORE applying the dividend at d_k.</a:t>
            </a:r>
            <a:endParaRPr lang="en-US" sz="1200" dirty="0"/>
          </a:p>
          <a:p>
            <a:pPr marL="0" indent="0">
              <a:spcAft>
                <a:spcPts val="500"/>
              </a:spcAft>
              <a:buNone/>
            </a:pPr>
            <a:r>
              <a:rPr lang="en-US" sz="1200" dirty="0">
                <a:solidFill>
                  <a:srgbClr val="1B1B1B"/>
                </a:solidFill>
                <a:latin typeface="Calibri" pitchFamily="34" charset="0"/>
                <a:ea typeface="Calibri" pitchFamily="34" charset="-122"/>
                <a:cs typeface="Calibri" pitchFamily="34" charset="-120"/>
              </a:rPr>
              <a:t>Put (item 1): same max structure, but the pre-jump term never wins ⇒ jump first is exact.</a:t>
            </a:r>
            <a:endParaRPr lang="en-US" sz="1200" dirty="0"/>
          </a:p>
        </p:txBody>
      </p:sp>
      <p:pic>
        <p:nvPicPr>
          <p:cNvPr id="6" name="Image 0" descr="figures/p1_pre_jump_panel2.png"/>
          <p:cNvPicPr>
            <a:picLocks noChangeAspect="1"/>
          </p:cNvPicPr>
          <p:nvPr/>
        </p:nvPicPr>
        <p:blipFill>
          <a:blip r:embed="rId3"/>
          <a:stretch>
            <a:fillRect/>
          </a:stretch>
        </p:blipFill>
        <p:spPr>
          <a:xfrm>
            <a:off x="5212080" y="1188720"/>
            <a:ext cx="3474720" cy="2548128"/>
          </a:xfrm>
          <a:prstGeom prst="rect">
            <a:avLst/>
          </a:prstGeom>
        </p:spPr>
      </p:pic>
      <p:sp>
        <p:nvSpPr>
          <p:cNvPr id="7" name="Text 4"/>
          <p:cNvSpPr txBox="1"/>
          <p:nvPr/>
        </p:nvSpPr>
        <p:spPr>
          <a:xfrm>
            <a:off x="457200" y="4114800"/>
            <a:ext cx="8229600" cy="548640"/>
          </a:xfrm>
          <a:prstGeom prst="rect">
            <a:avLst/>
          </a:prstGeom>
          <a:noFill/>
          <a:ln/>
        </p:spPr>
        <p:txBody>
          <a:bodyPr wrap="square" lIns="0" tIns="0" rIns="0" bIns="0" rtlCol="0" anchor="t"/>
          <a:lstStyle/>
          <a:p>
            <a:pPr marL="0" indent="0">
              <a:buNone/>
            </a:pPr>
            <a:r>
              <a:rPr lang="en-US" sz="1150" dirty="0">
                <a:solidFill>
                  <a:srgbClr val="1B1B1B"/>
                </a:solidFill>
                <a:latin typeface="Calibri" pitchFamily="34" charset="0"/>
                <a:ea typeface="Calibri" pitchFamily="34" charset="-122"/>
                <a:cs typeface="Calibri" pitchFamily="34" charset="-120"/>
              </a:rPr>
              <a:t>Call at S₀ = 100: decide before the jump 10.4198 · decide after (put-style) 10.4029 · European 9.9037. Pre-jump thresholds s* = 139.7, 128.8, 104.8.</a:t>
            </a:r>
            <a:endParaRPr lang="en-US" sz="1150" dirty="0"/>
          </a:p>
        </p:txBody>
      </p:sp>
      <p:sp>
        <p:nvSpPr>
          <p:cNvPr id="8" name="Text 5"/>
          <p:cNvSpPr txBox="1"/>
          <p:nvPr/>
        </p:nvSpPr>
        <p:spPr>
          <a:xfrm>
            <a:off x="457200" y="4754880"/>
            <a:ext cx="8229600" cy="274320"/>
          </a:xfrm>
          <a:prstGeom prst="rect">
            <a:avLst/>
          </a:prstGeom>
          <a:noFill/>
          <a:ln/>
        </p:spPr>
        <p:txBody>
          <a:bodyPr wrap="square" lIns="0" tIns="0" rIns="0" bIns="0" rtlCol="0" anchor="ctr"/>
          <a:lstStyle/>
          <a:p>
            <a:pPr marL="0" indent="0">
              <a:buNone/>
            </a:pPr>
            <a:r>
              <a:rPr lang="en-US" sz="900" i="1" dirty="0">
                <a:solidFill>
                  <a:srgbClr val="5A5F6E"/>
                </a:solidFill>
                <a:latin typeface="Calibri" pitchFamily="34" charset="0"/>
                <a:ea typeface="Calibri" pitchFamily="34" charset="-122"/>
                <a:cs typeface="Calibri" pitchFamily="34" charset="-120"/>
              </a:rPr>
              <a:t>Our grid solver, N = 180, δ = 0.0125. Deciding after the jump makes the call exercise one grid step early, losing interest K(1 − e^(−rh)).</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Checks · Ordering on the computed boundaries</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Part 1 · g_j = b_j^{0.0125} − b_j^0 ; A = #{j &lt; j*: g_j &gt; 1e-8}, B = max (g_j)⁺/K, F = max_{j ≥ j*} |g_j|/K</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4206240" cy="2304288"/>
        </p:xfrm>
        <a:graphic>
          <a:graphicData uri="http://schemas.openxmlformats.org/drawingml/2006/table">
            <a:tbl>
              <a:tblPr/>
              <a:tblGrid>
                <a:gridCol w="6400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180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reference</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0.000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0.000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180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LS</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0.000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0.066</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180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NN</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0.051</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0.082</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360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reference</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0.000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0.000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360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LS</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0.000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0.094</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360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NN</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0.051</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0.172</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4892040" y="1234440"/>
            <a:ext cx="3794760" cy="3383280"/>
          </a:xfrm>
          <a:prstGeom prst="rect">
            <a:avLst/>
          </a:prstGeom>
          <a:noFill/>
          <a:ln/>
        </p:spPr>
        <p:txBody>
          <a:bodyPr wrap="square" lIns="635" tIns="635" rIns="635" bIns="635" rtlCol="0" anchor="t"/>
          <a:lstStyle/>
          <a:p>
            <a:pPr marL="342900" indent="-342900">
              <a:spcAft>
                <a:spcPts val="600"/>
              </a:spcAft>
              <a:buSzPct val="100000"/>
              <a:buChar char="•"/>
            </a:pPr>
            <a:r>
              <a:rPr lang="en-US" sz="1150" dirty="0">
                <a:solidFill>
                  <a:srgbClr val="1B1B1B"/>
                </a:solidFill>
                <a:latin typeface="Calibri" pitchFamily="34" charset="0"/>
                <a:ea typeface="Calibri" pitchFamily="34" charset="-122"/>
                <a:cs typeface="Calibri" pitchFamily="34" charset="-120"/>
              </a:rPr>
              <a:t>Reference: exactly ordered, A = B = F = 0; max_s (V₀ − V₀.₀₁₂₅)⁺ = 0 at t₀ for both N.</a:t>
            </a:r>
            <a:endParaRPr lang="en-US" sz="1150" dirty="0"/>
          </a:p>
          <a:p>
            <a:pPr marL="342900" indent="-342900">
              <a:spcAft>
                <a:spcPts val="600"/>
              </a:spcAft>
              <a:buSzPct val="100000"/>
              <a:buChar char="•"/>
            </a:pPr>
            <a:r>
              <a:rPr lang="en-US" sz="1150" dirty="0">
                <a:solidFill>
                  <a:srgbClr val="1B1B1B"/>
                </a:solidFill>
                <a:latin typeface="Calibri" pitchFamily="34" charset="0"/>
                <a:ea typeface="Calibri" pitchFamily="34" charset="-122"/>
                <a:cs typeface="Calibri" pitchFamily="34" charset="-120"/>
              </a:rPr>
              <a:t>LS: ordered before d₃ (A = 0), but F &gt; 0 after d₃ where the problems are identical: the two fits use different samples → regression/sampling error.</a:t>
            </a:r>
            <a:endParaRPr lang="en-US" sz="1150" dirty="0"/>
          </a:p>
          <a:p>
            <a:pPr marL="342900" indent="-342900">
              <a:spcAft>
                <a:spcPts val="600"/>
              </a:spcAft>
              <a:buSzPct val="100000"/>
              <a:buChar char="•"/>
            </a:pPr>
            <a:r>
              <a:rPr lang="en-US" sz="1150" dirty="0">
                <a:solidFill>
                  <a:srgbClr val="1B1B1B"/>
                </a:solidFill>
                <a:latin typeface="Calibri" pitchFamily="34" charset="0"/>
                <a:ea typeface="Calibri" pitchFamily="34" charset="-122"/>
                <a:cs typeface="Calibri" pitchFamily="34" charset="-120"/>
              </a:rPr>
              <a:t>NN: violations only just after d₁ and d₂, where the δ-network overshoots the post-dividend boundary (up to 0.08K).</a:t>
            </a:r>
            <a:endParaRPr lang="en-US" sz="1150" dirty="0"/>
          </a:p>
          <a:p>
            <a:pPr marL="342900" indent="-342900">
              <a:spcAft>
                <a:spcPts val="600"/>
              </a:spcAft>
              <a:buSzPct val="100000"/>
              <a:buChar char="•"/>
            </a:pPr>
            <a:r>
              <a:rPr lang="en-US" sz="1150" dirty="0">
                <a:solidFill>
                  <a:srgbClr val="1B1B1B"/>
                </a:solidFill>
                <a:latin typeface="Calibri" pitchFamily="34" charset="0"/>
                <a:ea typeface="Calibri" pitchFamily="34" charset="-122"/>
                <a:cs typeface="Calibri" pitchFamily="34" charset="-120"/>
              </a:rPr>
              <a:t>Fitted methods are not forced to respect item 3, so A, B, F measure LEARNING error, not the model.</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Refinement vs changing N</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Part 2 — supplied --verify: precise to ~2e-5 $; changing N changes the problem itself</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5120640" cy="2103120"/>
        </p:xfrm>
        <a:graphic>
          <a:graphicData uri="http://schemas.openxmlformats.org/drawingml/2006/table">
            <a:tbl>
              <a:tblPr/>
              <a:tblGrid>
                <a:gridCol w="20116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1148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Change</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Max price change ($)</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Max boundary change ($)</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11480">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Spatial ΔS 0.10 → 0.05</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1.6e-5</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1.8e-3</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11480">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Time 16 → 32 substeps</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1.8e-5</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1.5e-3</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11480">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Our solver vs supplied arrays</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8.5e-6</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1.1e-3</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11480">
                <a:tc>
                  <a:txBody>
                    <a:bodyPr/>
                    <a:lstStyle/>
                    <a:p>
                      <a:pPr marL="0" indent="0">
                        <a:buNone/>
                      </a:pPr>
                      <a:r>
                        <a:rPr lang="en-US" sz="1200" b="1" dirty="0">
                          <a:solidFill>
                            <a:srgbClr val="1B1B1B"/>
                          </a:solidFill>
                          <a:latin typeface="Calibri" pitchFamily="34" charset="0"/>
                          <a:ea typeface="Calibri" pitchFamily="34" charset="-122"/>
                          <a:cs typeface="Calibri" pitchFamily="34" charset="-120"/>
                        </a:rPr>
                        <a:t>N = 180 → 360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b="1" dirty="0">
                          <a:solidFill>
                            <a:srgbClr val="1B1B1B"/>
                          </a:solidFill>
                          <a:latin typeface="Calibri" pitchFamily="34" charset="0"/>
                          <a:ea typeface="Calibri" pitchFamily="34" charset="-122"/>
                          <a:cs typeface="Calibri" pitchFamily="34" charset="-120"/>
                        </a:rPr>
                        <a:t>2.2e-3</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b="1" dirty="0">
                          <a:solidFill>
                            <a:srgbClr val="1B1B1B"/>
                          </a:solidFill>
                          <a:latin typeface="Calibri" pitchFamily="34" charset="0"/>
                          <a:ea typeface="Calibri" pitchFamily="34" charset="-122"/>
                          <a:cs typeface="Calibri" pitchFamily="34" charset="-120"/>
                        </a:rPr>
                        <a:t>0.306</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Shape 2"/>
          <p:cNvSpPr/>
          <p:nvPr/>
        </p:nvSpPr>
        <p:spPr>
          <a:xfrm>
            <a:off x="5852160" y="1325880"/>
            <a:ext cx="2834640" cy="2057400"/>
          </a:xfrm>
          <a:prstGeom prst="roundRect">
            <a:avLst>
              <a:gd name="adj" fmla="val 3556"/>
            </a:avLst>
          </a:prstGeom>
          <a:solidFill>
            <a:srgbClr val="EEF2FB"/>
          </a:solidFill>
          <a:ln w="12700">
            <a:solidFill>
              <a:srgbClr val="EEF2FB"/>
            </a:solidFill>
            <a:prstDash val="solid"/>
          </a:ln>
        </p:spPr>
      </p:sp>
      <p:sp>
        <p:nvSpPr>
          <p:cNvPr id="6" name="Text 3"/>
          <p:cNvSpPr txBox="1"/>
          <p:nvPr/>
        </p:nvSpPr>
        <p:spPr>
          <a:xfrm>
            <a:off x="5989320" y="1417320"/>
            <a:ext cx="2560320" cy="1874520"/>
          </a:xfrm>
          <a:prstGeom prst="rect">
            <a:avLst/>
          </a:prstGeom>
          <a:noFill/>
          <a:ln/>
        </p:spPr>
        <p:txBody>
          <a:bodyPr wrap="square" lIns="0" tIns="0" rIns="0" bIns="0" rtlCol="0" anchor="t"/>
          <a:lstStyle/>
          <a:p>
            <a:pPr marL="0" indent="0">
              <a:buNone/>
            </a:pPr>
            <a:r>
              <a:rPr lang="en-US" sz="1100" b="1" dirty="0">
                <a:solidFill>
                  <a:srgbClr val="1B1B1B"/>
                </a:solidFill>
                <a:latin typeface="Calibri" pitchFamily="34" charset="0"/>
                <a:ea typeface="Calibri" pitchFamily="34" charset="-122"/>
                <a:cs typeface="Calibri" pitchFamily="34" charset="-120"/>
              </a:rPr>
              <a:t>Supplied reference</a:t>
            </a:r>
            <a:endParaRPr lang="en-US" sz="1100" dirty="0"/>
          </a:p>
          <a:p>
            <a:pPr marL="0" indent="0">
              <a:buNone/>
            </a:pPr>
            <a:r>
              <a:rPr lang="en-US" sz="1100" dirty="0">
                <a:solidFill>
                  <a:srgbClr val="1B1B1B"/>
                </a:solidFill>
                <a:latin typeface="Calibri" pitchFamily="34" charset="0"/>
                <a:ea typeface="Calibri" pitchFamily="34" charset="-122"/>
                <a:cs typeface="Calibri" pitchFamily="34" charset="-120"/>
              </a:rPr>
              <a:t>reference_solver.py --verify passed: saved arrays match a recomputation (≤ 2e-10). Finite differences, ΔS = 0.05, 32 substeps. Our independent log-grid solver agrees to within the refinement changes.</a:t>
            </a:r>
            <a:endParaRPr lang="en-US" sz="1100" dirty="0"/>
          </a:p>
        </p:txBody>
      </p:sp>
      <p:sp>
        <p:nvSpPr>
          <p:cNvPr id="7" name="Shape 4"/>
          <p:cNvSpPr/>
          <p:nvPr/>
        </p:nvSpPr>
        <p:spPr>
          <a:xfrm>
            <a:off x="457200" y="3611880"/>
            <a:ext cx="2468880" cy="1051560"/>
          </a:xfrm>
          <a:prstGeom prst="roundRect">
            <a:avLst>
              <a:gd name="adj" fmla="val 6957"/>
            </a:avLst>
          </a:prstGeom>
          <a:solidFill>
            <a:srgbClr val="EEF2FB"/>
          </a:solidFill>
          <a:ln w="12700">
            <a:solidFill>
              <a:srgbClr val="EEF2FB"/>
            </a:solidFill>
            <a:prstDash val="solid"/>
          </a:ln>
        </p:spPr>
      </p:sp>
      <p:sp>
        <p:nvSpPr>
          <p:cNvPr id="8" name="Text 5"/>
          <p:cNvSpPr txBox="1"/>
          <p:nvPr/>
        </p:nvSpPr>
        <p:spPr>
          <a:xfrm>
            <a:off x="594360" y="3685032"/>
            <a:ext cx="2194560" cy="548640"/>
          </a:xfrm>
          <a:prstGeom prst="rect">
            <a:avLst/>
          </a:prstGeom>
          <a:noFill/>
          <a:ln/>
        </p:spPr>
        <p:txBody>
          <a:bodyPr wrap="square" lIns="0" tIns="0" rIns="0" bIns="0" rtlCol="0" anchor="ctr"/>
          <a:lstStyle/>
          <a:p>
            <a:pPr marL="0" indent="0">
              <a:buNone/>
            </a:pPr>
            <a:r>
              <a:rPr lang="en-US" sz="2800" b="1" dirty="0">
                <a:solidFill>
                  <a:srgbClr val="2A78D6"/>
                </a:solidFill>
                <a:latin typeface="Cambria" pitchFamily="34" charset="0"/>
                <a:ea typeface="Cambria" pitchFamily="34" charset="-122"/>
                <a:cs typeface="Cambria" pitchFamily="34" charset="-120"/>
              </a:rPr>
              <a:t>≈ 2e-5 $</a:t>
            </a:r>
            <a:endParaRPr lang="en-US" sz="2800" dirty="0"/>
          </a:p>
        </p:txBody>
      </p:sp>
      <p:sp>
        <p:nvSpPr>
          <p:cNvPr id="9" name="Text 6"/>
          <p:cNvSpPr txBox="1"/>
          <p:nvPr/>
        </p:nvSpPr>
        <p:spPr>
          <a:xfrm>
            <a:off x="594360" y="4215384"/>
            <a:ext cx="219456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reference price precision (largest refinement change)</a:t>
            </a:r>
            <a:endParaRPr lang="en-US" sz="1100" dirty="0"/>
          </a:p>
        </p:txBody>
      </p:sp>
      <p:sp>
        <p:nvSpPr>
          <p:cNvPr id="10" name="Shape 7"/>
          <p:cNvSpPr/>
          <p:nvPr/>
        </p:nvSpPr>
        <p:spPr>
          <a:xfrm>
            <a:off x="3108960" y="3611880"/>
            <a:ext cx="2468880" cy="1051560"/>
          </a:xfrm>
          <a:prstGeom prst="roundRect">
            <a:avLst>
              <a:gd name="adj" fmla="val 6957"/>
            </a:avLst>
          </a:prstGeom>
          <a:solidFill>
            <a:srgbClr val="EEF2FB"/>
          </a:solidFill>
          <a:ln w="12700">
            <a:solidFill>
              <a:srgbClr val="EEF2FB"/>
            </a:solidFill>
            <a:prstDash val="solid"/>
          </a:ln>
        </p:spPr>
      </p:sp>
      <p:sp>
        <p:nvSpPr>
          <p:cNvPr id="4" name="Text 8"/>
          <p:cNvSpPr txBox="1"/>
          <p:nvPr/>
        </p:nvSpPr>
        <p:spPr>
          <a:xfrm>
            <a:off x="3246120" y="3685032"/>
            <a:ext cx="2194560" cy="548640"/>
          </a:xfrm>
          <a:prstGeom prst="rect">
            <a:avLst/>
          </a:prstGeom>
          <a:noFill/>
          <a:ln/>
        </p:spPr>
        <p:txBody>
          <a:bodyPr wrap="square" lIns="0" tIns="0" rIns="0" bIns="0" rtlCol="0" anchor="ctr"/>
          <a:lstStyle/>
          <a:p>
            <a:pPr marL="0" indent="0">
              <a:buNone/>
            </a:pPr>
            <a:r>
              <a:rPr lang="en-US" sz="2800" b="1" dirty="0">
                <a:solidFill>
                  <a:srgbClr val="EB6834"/>
                </a:solidFill>
                <a:latin typeface="Cambria" pitchFamily="34" charset="0"/>
                <a:ea typeface="Cambria" pitchFamily="34" charset="-122"/>
                <a:cs typeface="Cambria" pitchFamily="34" charset="-120"/>
              </a:rPr>
              <a:t>≈ 0.3 $</a:t>
            </a:r>
            <a:endParaRPr lang="en-US" sz="2800" dirty="0"/>
          </a:p>
        </p:txBody>
      </p:sp>
      <p:sp>
        <p:nvSpPr>
          <p:cNvPr id="12" name="Text 9"/>
          <p:cNvSpPr txBox="1"/>
          <p:nvPr/>
        </p:nvSpPr>
        <p:spPr>
          <a:xfrm>
            <a:off x="3246120" y="4215384"/>
            <a:ext cx="219456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boundary shift from N = 180 → 360: a different problem</a:t>
            </a:r>
            <a:endParaRPr lang="en-US" sz="1100" dirty="0"/>
          </a:p>
        </p:txBody>
      </p:sp>
      <p:sp>
        <p:nvSpPr>
          <p:cNvPr id="13" name="Text 10"/>
          <p:cNvSpPr txBox="1"/>
          <p:nvPr/>
        </p:nvSpPr>
        <p:spPr>
          <a:xfrm>
            <a:off x="457200" y="4754880"/>
            <a:ext cx="8229600" cy="274320"/>
          </a:xfrm>
          <a:prstGeom prst="rect">
            <a:avLst/>
          </a:prstGeom>
          <a:noFill/>
          <a:ln/>
        </p:spPr>
        <p:txBody>
          <a:bodyPr wrap="square" lIns="0" tIns="0" rIns="0" bIns="0" rtlCol="0" anchor="ctr"/>
          <a:lstStyle/>
          <a:p>
            <a:pPr marL="0" indent="0">
              <a:buNone/>
            </a:pPr>
            <a:r>
              <a:rPr lang="en-US" sz="900" i="1" dirty="0">
                <a:solidFill>
                  <a:srgbClr val="5A5F6E"/>
                </a:solidFill>
                <a:latin typeface="Calibri" pitchFamily="34" charset="0"/>
                <a:ea typeface="Calibri" pitchFamily="34" charset="-122"/>
                <a:cs typeface="Calibri" pitchFamily="34" charset="-120"/>
              </a:rPr>
              <a:t>A claimed accuracy gain smaller than the reference's own precision (~2e-5 $ in price, ~2e-3 $ in boundary) cannot be resolved.</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Exact simulation passes the martingale check</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Part 2 — (mean S_T − S₀e^(rT)(1−δ)³) / SE on the final S₀ = 100 sample</a:t>
            </a:r>
            <a:endParaRPr lang="en-US" sz="1300" dirty="0"/>
          </a:p>
        </p:txBody>
      </p:sp>
      <p:sp>
        <p:nvSpPr>
          <p:cNvPr id="4" name="Shape 2"/>
          <p:cNvSpPr/>
          <p:nvPr/>
        </p:nvSpPr>
        <p:spPr>
          <a:xfrm>
            <a:off x="457200" y="1325880"/>
            <a:ext cx="1920240" cy="1051560"/>
          </a:xfrm>
          <a:prstGeom prst="roundRect">
            <a:avLst>
              <a:gd name="adj" fmla="val 6957"/>
            </a:avLst>
          </a:prstGeom>
          <a:solidFill>
            <a:srgbClr val="EEF2FB"/>
          </a:solidFill>
          <a:ln w="12700">
            <a:solidFill>
              <a:srgbClr val="EEF2FB"/>
            </a:solidFill>
            <a:prstDash val="solid"/>
          </a:ln>
        </p:spPr>
      </p:sp>
      <p:sp>
        <p:nvSpPr>
          <p:cNvPr id="5" name="Text 3"/>
          <p:cNvSpPr txBox="1"/>
          <p:nvPr/>
        </p:nvSpPr>
        <p:spPr>
          <a:xfrm>
            <a:off x="594360" y="1399032"/>
            <a:ext cx="164592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+0.12</a:t>
            </a:r>
            <a:endParaRPr lang="en-US" sz="2800" dirty="0"/>
          </a:p>
        </p:txBody>
      </p:sp>
      <p:sp>
        <p:nvSpPr>
          <p:cNvPr id="6" name="Text 4"/>
          <p:cNvSpPr txBox="1"/>
          <p:nvPr/>
        </p:nvSpPr>
        <p:spPr>
          <a:xfrm>
            <a:off x="594360" y="1929384"/>
            <a:ext cx="164592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case 0: N = 180, δ = 0</a:t>
            </a:r>
            <a:endParaRPr lang="en-US" sz="1100" dirty="0"/>
          </a:p>
        </p:txBody>
      </p:sp>
      <p:sp>
        <p:nvSpPr>
          <p:cNvPr id="7" name="Shape 5"/>
          <p:cNvSpPr/>
          <p:nvPr/>
        </p:nvSpPr>
        <p:spPr>
          <a:xfrm>
            <a:off x="2542032" y="1325880"/>
            <a:ext cx="1920240" cy="1051560"/>
          </a:xfrm>
          <a:prstGeom prst="roundRect">
            <a:avLst>
              <a:gd name="adj" fmla="val 6957"/>
            </a:avLst>
          </a:prstGeom>
          <a:solidFill>
            <a:srgbClr val="EEF2FB"/>
          </a:solidFill>
          <a:ln w="12700">
            <a:solidFill>
              <a:srgbClr val="EEF2FB"/>
            </a:solidFill>
            <a:prstDash val="solid"/>
          </a:ln>
        </p:spPr>
      </p:sp>
      <p:sp>
        <p:nvSpPr>
          <p:cNvPr id="8" name="Text 6"/>
          <p:cNvSpPr txBox="1"/>
          <p:nvPr/>
        </p:nvSpPr>
        <p:spPr>
          <a:xfrm>
            <a:off x="2679192" y="1399032"/>
            <a:ext cx="164592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+0.62</a:t>
            </a:r>
            <a:endParaRPr lang="en-US" sz="2800" dirty="0"/>
          </a:p>
        </p:txBody>
      </p:sp>
      <p:sp>
        <p:nvSpPr>
          <p:cNvPr id="9" name="Text 7"/>
          <p:cNvSpPr txBox="1"/>
          <p:nvPr/>
        </p:nvSpPr>
        <p:spPr>
          <a:xfrm>
            <a:off x="2679192" y="1929384"/>
            <a:ext cx="164592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case 1: N = 180, δ = 0.0125</a:t>
            </a:r>
            <a:endParaRPr lang="en-US" sz="1100" dirty="0"/>
          </a:p>
        </p:txBody>
      </p:sp>
      <p:sp>
        <p:nvSpPr>
          <p:cNvPr id="10" name="Shape 8"/>
          <p:cNvSpPr/>
          <p:nvPr/>
        </p:nvSpPr>
        <p:spPr>
          <a:xfrm>
            <a:off x="4626864" y="1325880"/>
            <a:ext cx="1920240" cy="1051560"/>
          </a:xfrm>
          <a:prstGeom prst="roundRect">
            <a:avLst>
              <a:gd name="adj" fmla="val 6957"/>
            </a:avLst>
          </a:prstGeom>
          <a:solidFill>
            <a:srgbClr val="EEF2FB"/>
          </a:solidFill>
          <a:ln w="12700">
            <a:solidFill>
              <a:srgbClr val="EEF2FB"/>
            </a:solidFill>
            <a:prstDash val="solid"/>
          </a:ln>
        </p:spPr>
      </p:sp>
      <p:sp>
        <p:nvSpPr>
          <p:cNvPr id="11" name="Text 9"/>
          <p:cNvSpPr txBox="1"/>
          <p:nvPr/>
        </p:nvSpPr>
        <p:spPr>
          <a:xfrm>
            <a:off x="4764024" y="1399032"/>
            <a:ext cx="1645920" cy="548640"/>
          </a:xfrm>
          <a:prstGeom prst="rect">
            <a:avLst/>
          </a:prstGeom>
          <a:noFill/>
          <a:ln/>
        </p:spPr>
        <p:txBody>
          <a:bodyPr wrap="square" lIns="0" tIns="0" rIns="0" bIns="0" rtlCol="0" anchor="ctr"/>
          <a:lstStyle/>
          <a:p>
            <a:pPr marL="0" indent="0">
              <a:buNone/>
            </a:pPr>
            <a:r>
              <a:rPr lang="en-US" sz="2800" b="1" dirty="0">
                <a:solidFill>
                  <a:srgbClr val="EB6834"/>
                </a:solidFill>
                <a:latin typeface="Cambria" pitchFamily="34" charset="0"/>
                <a:ea typeface="Cambria" pitchFamily="34" charset="-122"/>
                <a:cs typeface="Cambria" pitchFamily="34" charset="-120"/>
              </a:rPr>
              <a:t>+1.96</a:t>
            </a:r>
            <a:endParaRPr lang="en-US" sz="2800" dirty="0"/>
          </a:p>
        </p:txBody>
      </p:sp>
      <p:sp>
        <p:nvSpPr>
          <p:cNvPr id="12" name="Text 10"/>
          <p:cNvSpPr txBox="1"/>
          <p:nvPr/>
        </p:nvSpPr>
        <p:spPr>
          <a:xfrm>
            <a:off x="4764024" y="1929384"/>
            <a:ext cx="164592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case 2: N = 360, δ = 0</a:t>
            </a:r>
            <a:endParaRPr lang="en-US" sz="1100" dirty="0"/>
          </a:p>
        </p:txBody>
      </p:sp>
      <p:sp>
        <p:nvSpPr>
          <p:cNvPr id="13" name="Shape 11"/>
          <p:cNvSpPr/>
          <p:nvPr/>
        </p:nvSpPr>
        <p:spPr>
          <a:xfrm>
            <a:off x="6711696" y="1325880"/>
            <a:ext cx="1920240" cy="1051560"/>
          </a:xfrm>
          <a:prstGeom prst="roundRect">
            <a:avLst>
              <a:gd name="adj" fmla="val 6957"/>
            </a:avLst>
          </a:prstGeom>
          <a:solidFill>
            <a:srgbClr val="EEF2FB"/>
          </a:solidFill>
          <a:ln w="12700">
            <a:solidFill>
              <a:srgbClr val="EEF2FB"/>
            </a:solidFill>
            <a:prstDash val="solid"/>
          </a:ln>
        </p:spPr>
      </p:sp>
      <p:sp>
        <p:nvSpPr>
          <p:cNvPr id="14" name="Text 12"/>
          <p:cNvSpPr txBox="1"/>
          <p:nvPr/>
        </p:nvSpPr>
        <p:spPr>
          <a:xfrm>
            <a:off x="6848856" y="1399032"/>
            <a:ext cx="164592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+0.23</a:t>
            </a:r>
            <a:endParaRPr lang="en-US" sz="2800" dirty="0"/>
          </a:p>
        </p:txBody>
      </p:sp>
      <p:sp>
        <p:nvSpPr>
          <p:cNvPr id="15" name="Text 13"/>
          <p:cNvSpPr txBox="1"/>
          <p:nvPr/>
        </p:nvSpPr>
        <p:spPr>
          <a:xfrm>
            <a:off x="6848856" y="1929384"/>
            <a:ext cx="164592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case 3: N = 360, δ = 0.0125</a:t>
            </a:r>
            <a:endParaRPr lang="en-US" sz="1100" dirty="0"/>
          </a:p>
        </p:txBody>
      </p:sp>
      <p:sp>
        <p:nvSpPr>
          <p:cNvPr id="16" name="Text 14"/>
          <p:cNvSpPr txBox="1"/>
          <p:nvPr/>
        </p:nvSpPr>
        <p:spPr>
          <a:xfrm>
            <a:off x="457200" y="2651760"/>
            <a:ext cx="8229600" cy="2011680"/>
          </a:xfrm>
          <a:prstGeom prst="rect">
            <a:avLst/>
          </a:prstGeom>
          <a:noFill/>
          <a:ln/>
        </p:spPr>
        <p:txBody>
          <a:bodyPr wrap="square" lIns="635" tIns="635" rIns="635" bIns="635" rtlCol="0" anchor="t"/>
          <a:lstStyle/>
          <a:p>
            <a:pPr marL="342900" indent="-342900">
              <a:spcAft>
                <a:spcPts val="600"/>
              </a:spcAft>
              <a:buSzPct val="100000"/>
              <a:buChar char="•"/>
            </a:pPr>
            <a:r>
              <a:rPr lang="en-US" sz="1300" dirty="0">
                <a:solidFill>
                  <a:srgbClr val="1B1B1B"/>
                </a:solidFill>
                <a:latin typeface="Calibri" pitchFamily="34" charset="0"/>
                <a:ea typeface="Calibri" pitchFamily="34" charset="-122"/>
                <a:cs typeface="Calibri" pitchFamily="34" charset="-120"/>
              </a:rPr>
              <a:t>Exact lognormal step, dividend applied on arrival at an integer dividend index; a start at a dividend date is post-jump.</a:t>
            </a:r>
            <a:endParaRPr lang="en-US" sz="1300" dirty="0"/>
          </a:p>
          <a:p>
            <a:pPr marL="342900" indent="-342900">
              <a:spcAft>
                <a:spcPts val="600"/>
              </a:spcAft>
              <a:buSzPct val="100000"/>
              <a:buChar char="•"/>
            </a:pPr>
            <a:r>
              <a:rPr lang="en-US" sz="1300" dirty="0">
                <a:solidFill>
                  <a:srgbClr val="1B1B1B"/>
                </a:solidFill>
                <a:latin typeface="Calibri" pitchFamily="34" charset="0"/>
                <a:ea typeface="Calibri" pitchFamily="34" charset="-122"/>
                <a:cs typeface="Calibri" pitchFamily="34" charset="-120"/>
              </a:rPr>
              <a:t>Training mixture A (README rule): v, u uniform; A = K·0.001^(1−u) if v &lt; 1/2, else K(0.2 + u).</a:t>
            </a:r>
            <a:endParaRPr lang="en-US" sz="1300" dirty="0"/>
          </a:p>
          <a:p>
            <a:pPr marL="342900" indent="-342900">
              <a:spcAft>
                <a:spcPts val="600"/>
              </a:spcAft>
              <a:buSzPct val="100000"/>
              <a:buChar char="•"/>
            </a:pPr>
            <a:r>
              <a:rPr lang="en-US" sz="1300" dirty="0">
                <a:solidFill>
                  <a:srgbClr val="1B1B1B"/>
                </a:solidFill>
                <a:latin typeface="Calibri" pitchFamily="34" charset="0"/>
                <a:ea typeface="Calibri" pitchFamily="34" charset="-122"/>
                <a:cs typeface="Calibri" pitchFamily="34" charset="-120"/>
              </a:rPr>
              <a:t>All four z-scores lie inside ±2; case 2 sits at the edge (1.96), which is plausible for one of four draws.</a:t>
            </a:r>
            <a:endParaRPr lang="en-US" sz="1300" dirty="0"/>
          </a:p>
          <a:p>
            <a:pPr marL="342900" indent="-342900">
              <a:spcAft>
                <a:spcPts val="600"/>
              </a:spcAft>
              <a:buSzPct val="100000"/>
              <a:buChar char="•"/>
            </a:pPr>
            <a:r>
              <a:rPr lang="en-US" sz="1300" dirty="0">
                <a:solidFill>
                  <a:srgbClr val="1B1B1B"/>
                </a:solidFill>
                <a:latin typeface="Calibri" pitchFamily="34" charset="0"/>
                <a:ea typeface="Calibri" pitchFamily="34" charset="-122"/>
                <a:cs typeface="Calibri" pitchFamily="34" charset="-120"/>
              </a:rPr>
              <a:t>All banks follow the README draw order and arithmetic: one default_rng per bank, starts then normals, log1p(−δ) before dividend indices.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Longstaff–Schwartz, turned into a threshold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Part 3 — 32,768 paths from S₀ ~ A, targets in time-zero dollars</a:t>
            </a:r>
            <a:endParaRPr lang="en-US" sz="1300" dirty="0"/>
          </a:p>
        </p:txBody>
      </p:sp>
      <p:sp>
        <p:nvSpPr>
          <p:cNvPr id="4" name="Shape 2"/>
          <p:cNvSpPr/>
          <p:nvPr/>
        </p:nvSpPr>
        <p:spPr>
          <a:xfrm>
            <a:off x="457200" y="1371600"/>
            <a:ext cx="1920240" cy="1828800"/>
          </a:xfrm>
          <a:prstGeom prst="roundRect">
            <a:avLst>
              <a:gd name="adj" fmla="val 4000"/>
            </a:avLst>
          </a:prstGeom>
          <a:solidFill>
            <a:srgbClr val="EEF2FB"/>
          </a:solidFill>
          <a:ln w="12700">
            <a:solidFill>
              <a:srgbClr val="EEF2FB"/>
            </a:solidFill>
            <a:prstDash val="solid"/>
          </a:ln>
        </p:spPr>
      </p:sp>
      <p:sp>
        <p:nvSpPr>
          <p:cNvPr id="5" name="Shape 3"/>
          <p:cNvSpPr/>
          <p:nvPr/>
        </p:nvSpPr>
        <p:spPr>
          <a:xfrm>
            <a:off x="594360" y="1508760"/>
            <a:ext cx="384048" cy="384048"/>
          </a:xfrm>
          <a:prstGeom prst="ellipse">
            <a:avLst/>
          </a:prstGeom>
          <a:solidFill>
            <a:srgbClr val="EB6834"/>
          </a:solidFill>
          <a:ln/>
        </p:spPr>
      </p:sp>
      <p:sp>
        <p:nvSpPr>
          <p:cNvPr id="6" name="Text 4"/>
          <p:cNvSpPr txBox="1"/>
          <p:nvPr/>
        </p:nvSpPr>
        <p:spPr>
          <a:xfrm>
            <a:off x="594360" y="150876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5"/>
          <p:cNvSpPr txBox="1"/>
          <p:nvPr/>
        </p:nvSpPr>
        <p:spPr>
          <a:xfrm>
            <a:off x="1051560" y="1508760"/>
            <a:ext cx="1280160" cy="384048"/>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Regress</a:t>
            </a:r>
            <a:endParaRPr lang="en-US" sz="1500" dirty="0"/>
          </a:p>
        </p:txBody>
      </p:sp>
      <p:sp>
        <p:nvSpPr>
          <p:cNvPr id="8" name="Text 6"/>
          <p:cNvSpPr txBox="1"/>
          <p:nvPr/>
        </p:nvSpPr>
        <p:spPr>
          <a:xfrm>
            <a:off x="594360" y="2011680"/>
            <a:ext cx="1691640" cy="1143000"/>
          </a:xfrm>
          <a:prstGeom prst="rect">
            <a:avLst/>
          </a:prstGeom>
          <a:noFill/>
          <a:ln/>
        </p:spPr>
        <p:txBody>
          <a:bodyPr wrap="square" lIns="0" tIns="0" rIns="0" bIns="0" rtlCol="0" anchor="t"/>
          <a:lstStyle/>
          <a:p>
            <a:pPr marL="0" indent="0">
              <a:buNone/>
            </a:pPr>
            <a:r>
              <a:rPr lang="en-US" sz="1200" dirty="0">
                <a:solidFill>
                  <a:srgbClr val="1B1B1B"/>
                </a:solidFill>
                <a:latin typeface="Calibri" pitchFamily="34" charset="0"/>
                <a:ea typeface="Calibri" pitchFamily="34" charset="-122"/>
                <a:cs typeface="Calibri" pitchFamily="34" charset="-120"/>
              </a:rPr>
              <a:t>Y on 1, x, x², x³ over ITM rows (SVD least squares)</a:t>
            </a:r>
            <a:endParaRPr lang="en-US" sz="1200" dirty="0"/>
          </a:p>
        </p:txBody>
      </p:sp>
      <p:sp>
        <p:nvSpPr>
          <p:cNvPr id="9" name="Shape 7"/>
          <p:cNvSpPr/>
          <p:nvPr/>
        </p:nvSpPr>
        <p:spPr>
          <a:xfrm>
            <a:off x="2560320" y="1371600"/>
            <a:ext cx="1920240" cy="1828800"/>
          </a:xfrm>
          <a:prstGeom prst="roundRect">
            <a:avLst>
              <a:gd name="adj" fmla="val 4000"/>
            </a:avLst>
          </a:prstGeom>
          <a:solidFill>
            <a:srgbClr val="EEF2FB"/>
          </a:solidFill>
          <a:ln w="12700">
            <a:solidFill>
              <a:srgbClr val="EEF2FB"/>
            </a:solidFill>
            <a:prstDash val="solid"/>
          </a:ln>
        </p:spPr>
      </p:sp>
      <p:sp>
        <p:nvSpPr>
          <p:cNvPr id="10" name="Shape 8"/>
          <p:cNvSpPr/>
          <p:nvPr/>
        </p:nvSpPr>
        <p:spPr>
          <a:xfrm>
            <a:off x="2697480" y="1508760"/>
            <a:ext cx="384048" cy="384048"/>
          </a:xfrm>
          <a:prstGeom prst="ellipse">
            <a:avLst/>
          </a:prstGeom>
          <a:solidFill>
            <a:srgbClr val="EB6834"/>
          </a:solidFill>
          <a:ln/>
        </p:spPr>
      </p:sp>
      <p:sp>
        <p:nvSpPr>
          <p:cNvPr id="11" name="Text 9"/>
          <p:cNvSpPr txBox="1"/>
          <p:nvPr/>
        </p:nvSpPr>
        <p:spPr>
          <a:xfrm>
            <a:off x="2697480" y="150876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2" name="Text 10"/>
          <p:cNvSpPr txBox="1"/>
          <p:nvPr/>
        </p:nvSpPr>
        <p:spPr>
          <a:xfrm>
            <a:off x="3154680" y="1508760"/>
            <a:ext cx="1280160" cy="384048"/>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Clip</a:t>
            </a:r>
            <a:endParaRPr lang="en-US" sz="1500" dirty="0"/>
          </a:p>
        </p:txBody>
      </p:sp>
      <p:sp>
        <p:nvSpPr>
          <p:cNvPr id="13" name="Text 11"/>
          <p:cNvSpPr txBox="1"/>
          <p:nvPr/>
        </p:nvSpPr>
        <p:spPr>
          <a:xfrm>
            <a:off x="2697480" y="2011680"/>
            <a:ext cx="1691640" cy="1143000"/>
          </a:xfrm>
          <a:prstGeom prst="rect">
            <a:avLst/>
          </a:prstGeom>
          <a:noFill/>
          <a:ln/>
        </p:spPr>
        <p:txBody>
          <a:bodyPr wrap="square" lIns="0" tIns="0" rIns="0" bIns="0" rtlCol="0" anchor="t"/>
          <a:lstStyle/>
          <a:p>
            <a:pPr marL="0" indent="0">
              <a:buNone/>
            </a:pPr>
            <a:r>
              <a:rPr lang="en-US" sz="1200" dirty="0">
                <a:solidFill>
                  <a:srgbClr val="1B1B1B"/>
                </a:solidFill>
                <a:latin typeface="Calibri" pitchFamily="34" charset="0"/>
                <a:ea typeface="Calibri" pitchFamily="34" charset="-122"/>
                <a:cs typeface="Calibri" pitchFamily="34" charset="-120"/>
              </a:rPr>
              <a:t>c_j ∈ [0, K e^(−r t_{j+1})] ⇒ H₀ &gt; 0</a:t>
            </a:r>
            <a:endParaRPr lang="en-US" sz="1200" dirty="0"/>
          </a:p>
        </p:txBody>
      </p:sp>
      <p:sp>
        <p:nvSpPr>
          <p:cNvPr id="14" name="Shape 12"/>
          <p:cNvSpPr/>
          <p:nvPr/>
        </p:nvSpPr>
        <p:spPr>
          <a:xfrm>
            <a:off x="4663440" y="1371600"/>
            <a:ext cx="1920240" cy="1828800"/>
          </a:xfrm>
          <a:prstGeom prst="roundRect">
            <a:avLst>
              <a:gd name="adj" fmla="val 4000"/>
            </a:avLst>
          </a:prstGeom>
          <a:solidFill>
            <a:srgbClr val="EEF2FB"/>
          </a:solidFill>
          <a:ln w="12700">
            <a:solidFill>
              <a:srgbClr val="EEF2FB"/>
            </a:solidFill>
            <a:prstDash val="solid"/>
          </a:ln>
        </p:spPr>
      </p:sp>
      <p:sp>
        <p:nvSpPr>
          <p:cNvPr id="15" name="Shape 13"/>
          <p:cNvSpPr/>
          <p:nvPr/>
        </p:nvSpPr>
        <p:spPr>
          <a:xfrm>
            <a:off x="4800600" y="1508760"/>
            <a:ext cx="384048" cy="384048"/>
          </a:xfrm>
          <a:prstGeom prst="ellipse">
            <a:avLst/>
          </a:prstGeom>
          <a:solidFill>
            <a:srgbClr val="EB6834"/>
          </a:solidFill>
          <a:ln/>
        </p:spPr>
      </p:sp>
      <p:sp>
        <p:nvSpPr>
          <p:cNvPr id="16" name="Text 14"/>
          <p:cNvSpPr txBox="1"/>
          <p:nvPr/>
        </p:nvSpPr>
        <p:spPr>
          <a:xfrm>
            <a:off x="4800600" y="150876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7" name="Text 15"/>
          <p:cNvSpPr txBox="1"/>
          <p:nvPr/>
        </p:nvSpPr>
        <p:spPr>
          <a:xfrm>
            <a:off x="5257800" y="1508760"/>
            <a:ext cx="1280160" cy="384048"/>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Threshold</a:t>
            </a:r>
            <a:endParaRPr lang="en-US" sz="1500" dirty="0"/>
          </a:p>
        </p:txBody>
      </p:sp>
      <p:sp>
        <p:nvSpPr>
          <p:cNvPr id="18" name="Text 16"/>
          <p:cNvSpPr txBox="1"/>
          <p:nvPr/>
        </p:nvSpPr>
        <p:spPr>
          <a:xfrm>
            <a:off x="4800600" y="2011680"/>
            <a:ext cx="1691640" cy="1143000"/>
          </a:xfrm>
          <a:prstGeom prst="rect">
            <a:avLst/>
          </a:prstGeom>
          <a:noFill/>
          <a:ln/>
        </p:spPr>
        <p:txBody>
          <a:bodyPr wrap="square" lIns="0" tIns="0" rIns="0" bIns="0" rtlCol="0" anchor="t"/>
          <a:lstStyle/>
          <a:p>
            <a:pPr marL="0" indent="0">
              <a:buNone/>
            </a:pPr>
            <a:r>
              <a:rPr lang="en-US" sz="1200" dirty="0">
                <a:solidFill>
                  <a:srgbClr val="1B1B1B"/>
                </a:solidFill>
                <a:latin typeface="Calibri" pitchFamily="34" charset="0"/>
                <a:ea typeface="Calibri" pitchFamily="34" charset="-122"/>
                <a:cs typeface="Calibri" pitchFamily="34" charset="-120"/>
              </a:rPr>
              <a:t>largest +/− crossing of H on s = 0.1ℓ</a:t>
            </a:r>
            <a:endParaRPr lang="en-US" sz="1200" dirty="0"/>
          </a:p>
        </p:txBody>
      </p:sp>
      <p:sp>
        <p:nvSpPr>
          <p:cNvPr id="19" name="Shape 17"/>
          <p:cNvSpPr/>
          <p:nvPr/>
        </p:nvSpPr>
        <p:spPr>
          <a:xfrm>
            <a:off x="6766560" y="1371600"/>
            <a:ext cx="1920240" cy="1828800"/>
          </a:xfrm>
          <a:prstGeom prst="roundRect">
            <a:avLst>
              <a:gd name="adj" fmla="val 4000"/>
            </a:avLst>
          </a:prstGeom>
          <a:solidFill>
            <a:srgbClr val="EEF2FB"/>
          </a:solidFill>
          <a:ln w="12700">
            <a:solidFill>
              <a:srgbClr val="EEF2FB"/>
            </a:solidFill>
            <a:prstDash val="solid"/>
          </a:ln>
        </p:spPr>
      </p:sp>
      <p:sp>
        <p:nvSpPr>
          <p:cNvPr id="20" name="Shape 18"/>
          <p:cNvSpPr/>
          <p:nvPr/>
        </p:nvSpPr>
        <p:spPr>
          <a:xfrm>
            <a:off x="6903720" y="1508760"/>
            <a:ext cx="384048" cy="384048"/>
          </a:xfrm>
          <a:prstGeom prst="ellipse">
            <a:avLst/>
          </a:prstGeom>
          <a:solidFill>
            <a:srgbClr val="EB6834"/>
          </a:solidFill>
          <a:ln/>
        </p:spPr>
      </p:sp>
      <p:sp>
        <p:nvSpPr>
          <p:cNvPr id="21" name="Text 19"/>
          <p:cNvSpPr txBox="1"/>
          <p:nvPr/>
        </p:nvSpPr>
        <p:spPr>
          <a:xfrm>
            <a:off x="6903720" y="150876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22" name="Text 20"/>
          <p:cNvSpPr txBox="1"/>
          <p:nvPr/>
        </p:nvSpPr>
        <p:spPr>
          <a:xfrm>
            <a:off x="7360920" y="1508760"/>
            <a:ext cx="1280160" cy="384048"/>
          </a:xfrm>
          <a:prstGeom prst="rect">
            <a:avLst/>
          </a:prstGeom>
          <a:noFill/>
          <a:ln/>
        </p:spPr>
        <p:txBody>
          <a:bodyPr wrap="square" lIns="0" tIns="0" rIns="0" bIns="0" rtlCol="0" anchor="ctr"/>
          <a:lstStyle/>
          <a:p>
            <a:pPr marL="0" indent="0">
              <a:buNone/>
            </a:pPr>
            <a:r>
              <a:rPr lang="en-US" sz="1500" b="1" dirty="0">
                <a:solidFill>
                  <a:srgbClr val="1E2761"/>
                </a:solidFill>
                <a:latin typeface="Cambria" pitchFamily="34" charset="0"/>
                <a:ea typeface="Cambria" pitchFamily="34" charset="-122"/>
                <a:cs typeface="Cambria" pitchFamily="34" charset="-120"/>
              </a:rPr>
              <a:t>Cap &amp; update</a:t>
            </a:r>
            <a:endParaRPr lang="en-US" sz="1500" dirty="0"/>
          </a:p>
        </p:txBody>
      </p:sp>
      <p:sp>
        <p:nvSpPr>
          <p:cNvPr id="23" name="Text 21"/>
          <p:cNvSpPr txBox="1"/>
          <p:nvPr/>
        </p:nvSpPr>
        <p:spPr>
          <a:xfrm>
            <a:off x="6903720" y="2011680"/>
            <a:ext cx="1691640" cy="1143000"/>
          </a:xfrm>
          <a:prstGeom prst="rect">
            <a:avLst/>
          </a:prstGeom>
          <a:noFill/>
          <a:ln/>
        </p:spPr>
        <p:txBody>
          <a:bodyPr wrap="square" lIns="0" tIns="0" rIns="0" bIns="0" rtlCol="0" anchor="t"/>
          <a:lstStyle/>
          <a:p>
            <a:pPr marL="0" indent="0">
              <a:buNone/>
            </a:pPr>
            <a:r>
              <a:rPr lang="en-US" sz="1200" dirty="0">
                <a:solidFill>
                  <a:srgbClr val="1B1B1B"/>
                </a:solidFill>
                <a:latin typeface="Calibri" pitchFamily="34" charset="0"/>
                <a:ea typeface="Calibri" pitchFamily="34" charset="-122"/>
                <a:cs typeface="Calibri" pitchFamily="34" charset="-120"/>
              </a:rPr>
              <a:t>b_j = min(U_j, candidate); exercised paths get e^(−r t_j)(K − S_j)</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3383280"/>
          <a:ext cx="8229600" cy="1371600"/>
        </p:xfrm>
        <a:graphic>
          <a:graphicData uri="http://schemas.openxmlformats.org/drawingml/2006/table">
            <a:tbl>
              <a:tblPr/>
              <a:tblGrid>
                <a:gridCol w="10972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2011680">
                  <a:extLst>
                    <a:ext uri="{9D8B030D-6E8A-4147-A177-3AD203B41FA5}">
                      <a16:colId xmlns:a16="http://schemas.microsoft.com/office/drawing/2014/main" val="20004"/>
                    </a:ext>
                  </a:extLst>
                </a:gridCol>
              </a:tblGrid>
              <a:tr h="2468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Fallbacks</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Multi-crossing dates</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Capped dates</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Replay max|Q−Y|</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246888">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176 / 180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46888">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138 / 180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83</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46888">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360 / 360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46888">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273 / 360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154</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Why the largest crossing is the right one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A cubic over [0.001K, K] cannot follow the curvature: H dips below zero near s ≈ 3</a:t>
            </a:r>
            <a:endParaRPr lang="en-US" sz="1300" dirty="0"/>
          </a:p>
        </p:txBody>
      </p:sp>
      <p:pic>
        <p:nvPicPr>
          <p:cNvPr id="4" name="Image 0" descr="figures/p23_H_example.png"/>
          <p:cNvPicPr>
            <a:picLocks noChangeAspect="1"/>
          </p:cNvPicPr>
          <p:nvPr/>
        </p:nvPicPr>
        <p:blipFill>
          <a:blip r:embed="rId3"/>
          <a:stretch>
            <a:fillRect/>
          </a:stretch>
        </p:blipFill>
        <p:spPr>
          <a:xfrm>
            <a:off x="457200" y="1234440"/>
            <a:ext cx="8229600" cy="2945331"/>
          </a:xfrm>
          <a:prstGeom prst="rect">
            <a:avLst/>
          </a:prstGeom>
        </p:spPr>
      </p:pic>
      <p:sp>
        <p:nvSpPr>
          <p:cNvPr id="5" name="Text 2"/>
          <p:cNvSpPr txBox="1"/>
          <p:nvPr/>
        </p:nvSpPr>
        <p:spPr>
          <a:xfrm>
            <a:off x="457200" y="4754880"/>
            <a:ext cx="8229600" cy="274320"/>
          </a:xfrm>
          <a:prstGeom prst="rect">
            <a:avLst/>
          </a:prstGeom>
          <a:noFill/>
          <a:ln/>
        </p:spPr>
        <p:txBody>
          <a:bodyPr wrap="square" lIns="0" tIns="0" rIns="0" bIns="0" rtlCol="0" anchor="ctr"/>
          <a:lstStyle/>
          <a:p>
            <a:pPr marL="0" indent="0">
              <a:buNone/>
            </a:pPr>
            <a:r>
              <a:rPr lang="en-US" sz="900" i="1" dirty="0">
                <a:solidFill>
                  <a:srgbClr val="5A5F6E"/>
                </a:solidFill>
                <a:latin typeface="Calibri" pitchFamily="34" charset="0"/>
                <a:ea typeface="Calibri" pitchFamily="34" charset="-122"/>
                <a:cs typeface="Calibri" pitchFamily="34" charset="-120"/>
              </a:rPr>
              <a:t>Case 0, date j = 90. Selecting the largest crossing gives one exercise interval (0, b] and discards the spurious continuation pocket around s ≈ 3–34.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A neural boundary under the cap</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Part 4 — b_θ(t_j) = U_j · sigmoid(f_θ(t_j)); the cap is built in, the network learns the shape</a:t>
            </a:r>
            <a:endParaRPr lang="en-US" sz="1300" dirty="0"/>
          </a:p>
        </p:txBody>
      </p:sp>
      <p:sp>
        <p:nvSpPr>
          <p:cNvPr id="4" name="Shape 2"/>
          <p:cNvSpPr/>
          <p:nvPr/>
        </p:nvSpPr>
        <p:spPr>
          <a:xfrm>
            <a:off x="457200" y="1280160"/>
            <a:ext cx="384048" cy="384048"/>
          </a:xfrm>
          <a:prstGeom prst="ellipse">
            <a:avLst/>
          </a:prstGeom>
          <a:solidFill>
            <a:srgbClr val="EB6834"/>
          </a:solidFill>
          <a:ln/>
        </p:spPr>
      </p:sp>
      <p:sp>
        <p:nvSpPr>
          <p:cNvPr id="5" name="Text 3"/>
          <p:cNvSpPr txBox="1"/>
          <p:nvPr/>
        </p:nvSpPr>
        <p:spPr>
          <a:xfrm>
            <a:off x="457200" y="128016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6" name="Text 4"/>
          <p:cNvSpPr txBox="1"/>
          <p:nvPr/>
        </p:nvSpPr>
        <p:spPr>
          <a:xfrm>
            <a:off x="960120" y="1207008"/>
            <a:ext cx="4297680" cy="731520"/>
          </a:xfrm>
          <a:prstGeom prst="rect">
            <a:avLst/>
          </a:prstGeom>
          <a:noFill/>
          <a:ln/>
        </p:spPr>
        <p:txBody>
          <a:bodyPr wrap="square" lIns="0" tIns="0" rIns="0" bIns="0" rtlCol="0" anchor="t"/>
          <a:lstStyle/>
          <a:p>
            <a:pPr marL="0" indent="0">
              <a:buNone/>
            </a:pPr>
            <a:r>
              <a:rPr lang="en-US" sz="1200" b="1" dirty="0">
                <a:solidFill>
                  <a:srgbClr val="1E2761"/>
                </a:solidFill>
                <a:latin typeface="Calibri" pitchFamily="34" charset="0"/>
                <a:ea typeface="Calibri" pitchFamily="34" charset="-122"/>
                <a:cs typeface="Calibri" pitchFamily="34" charset="-120"/>
              </a:rPr>
              <a:t>Architecture. </a:t>
            </a:r>
            <a:r>
              <a:rPr lang="en-US" sz="1200" dirty="0">
                <a:solidFill>
                  <a:srgbClr val="1B1B1B"/>
                </a:solidFill>
                <a:latin typeface="Calibri" pitchFamily="34" charset="0"/>
                <a:ea typeface="Calibri" pitchFamily="34" charset="-122"/>
                <a:cs typeface="Calibri" pitchFamily="34" charset="-120"/>
              </a:rPr>
              <a:t>δ = 0: one net on [0, T]. δ &gt; 0: four nets on [0,d₁), [d₁,d₂), [d₂,d₃), [d₃,T]. Each Linear(1,8) → tanh → Linear(8,1), input x = (t−α)/(β−α).</a:t>
            </a:r>
            <a:endParaRPr lang="en-US" sz="1200" dirty="0"/>
          </a:p>
        </p:txBody>
      </p:sp>
      <p:sp>
        <p:nvSpPr>
          <p:cNvPr id="7" name="Shape 5"/>
          <p:cNvSpPr/>
          <p:nvPr/>
        </p:nvSpPr>
        <p:spPr>
          <a:xfrm>
            <a:off x="457200" y="2103120"/>
            <a:ext cx="384048" cy="384048"/>
          </a:xfrm>
          <a:prstGeom prst="ellipse">
            <a:avLst/>
          </a:prstGeom>
          <a:solidFill>
            <a:srgbClr val="EB6834"/>
          </a:solidFill>
          <a:ln/>
        </p:spPr>
      </p:sp>
      <p:sp>
        <p:nvSpPr>
          <p:cNvPr id="8" name="Text 6"/>
          <p:cNvSpPr txBox="1"/>
          <p:nvPr/>
        </p:nvSpPr>
        <p:spPr>
          <a:xfrm>
            <a:off x="457200" y="21031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9" name="Text 7"/>
          <p:cNvSpPr txBox="1"/>
          <p:nvPr/>
        </p:nvSpPr>
        <p:spPr>
          <a:xfrm>
            <a:off x="960120" y="2029968"/>
            <a:ext cx="4297680" cy="731520"/>
          </a:xfrm>
          <a:prstGeom prst="rect">
            <a:avLst/>
          </a:prstGeom>
          <a:noFill/>
          <a:ln/>
        </p:spPr>
        <p:txBody>
          <a:bodyPr wrap="square" lIns="0" tIns="0" rIns="0" bIns="0" rtlCol="0" anchor="t"/>
          <a:lstStyle/>
          <a:p>
            <a:pPr marL="0" indent="0">
              <a:buNone/>
            </a:pPr>
            <a:r>
              <a:rPr lang="en-US" sz="1200" b="1" dirty="0">
                <a:solidFill>
                  <a:srgbClr val="1E2761"/>
                </a:solidFill>
                <a:latin typeface="Calibri" pitchFamily="34" charset="0"/>
                <a:ea typeface="Calibri" pitchFamily="34" charset="-122"/>
                <a:cs typeface="Calibri" pitchFamily="34" charset="-120"/>
              </a:rPr>
              <a:t>Warm start. </a:t>
            </a:r>
            <a:r>
              <a:rPr lang="en-US" sz="1200" dirty="0">
                <a:solidFill>
                  <a:srgbClr val="1B1B1B"/>
                </a:solidFill>
                <a:latin typeface="Calibri" pitchFamily="34" charset="0"/>
                <a:ea typeface="Calibri" pitchFamily="34" charset="-122"/>
                <a:cs typeface="Calibri" pitchFamily="34" charset="-120"/>
              </a:rPr>
              <a:t>1,000 full-grid Adam steps (lr 0.01) onto the LS thresholds → checkpoint 0.</a:t>
            </a:r>
            <a:endParaRPr lang="en-US" sz="1200" dirty="0"/>
          </a:p>
        </p:txBody>
      </p:sp>
      <p:sp>
        <p:nvSpPr>
          <p:cNvPr id="10" name="Shape 8"/>
          <p:cNvSpPr/>
          <p:nvPr/>
        </p:nvSpPr>
        <p:spPr>
          <a:xfrm>
            <a:off x="457200" y="2926080"/>
            <a:ext cx="384048" cy="384048"/>
          </a:xfrm>
          <a:prstGeom prst="ellipse">
            <a:avLst/>
          </a:prstGeom>
          <a:solidFill>
            <a:srgbClr val="EB6834"/>
          </a:solidFill>
          <a:ln/>
        </p:spPr>
      </p:sp>
      <p:sp>
        <p:nvSpPr>
          <p:cNvPr id="11" name="Text 9"/>
          <p:cNvSpPr txBox="1"/>
          <p:nvPr/>
        </p:nvSpPr>
        <p:spPr>
          <a:xfrm>
            <a:off x="457200" y="29260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2" name="Text 10"/>
          <p:cNvSpPr txBox="1"/>
          <p:nvPr/>
        </p:nvSpPr>
        <p:spPr>
          <a:xfrm>
            <a:off x="960120" y="2852928"/>
            <a:ext cx="4297680" cy="731520"/>
          </a:xfrm>
          <a:prstGeom prst="rect">
            <a:avLst/>
          </a:prstGeom>
          <a:noFill/>
          <a:ln/>
        </p:spPr>
        <p:txBody>
          <a:bodyPr wrap="square" lIns="0" tIns="0" rIns="0" bIns="0" rtlCol="0" anchor="t"/>
          <a:lstStyle/>
          <a:p>
            <a:pPr marL="0" indent="0">
              <a:buNone/>
            </a:pPr>
            <a:r>
              <a:rPr lang="en-US" sz="1200" b="1" dirty="0">
                <a:solidFill>
                  <a:srgbClr val="1E2761"/>
                </a:solidFill>
                <a:latin typeface="Calibri" pitchFamily="34" charset="0"/>
                <a:ea typeface="Calibri" pitchFamily="34" charset="-122"/>
                <a:cs typeface="Calibri" pitchFamily="34" charset="-120"/>
              </a:rPr>
              <a:t>Payoff stage. </a:t>
            </a:r>
            <a:r>
              <a:rPr lang="en-US" sz="1200" dirty="0">
                <a:solidFill>
                  <a:srgbClr val="1B1B1B"/>
                </a:solidFill>
                <a:latin typeface="Calibri" pitchFamily="34" charset="0"/>
                <a:ea typeface="Calibri" pitchFamily="34" charset="-122"/>
                <a:cs typeface="Calibri" pitchFamily="34" charset="-120"/>
              </a:rPr>
              <a:t>2,400 Adam steps (lr 0.003), batches of 512 from 8,192 random-start paths; ε = 0.01 → 0.002 after 400.</a:t>
            </a:r>
            <a:endParaRPr lang="en-US" sz="1200" dirty="0"/>
          </a:p>
        </p:txBody>
      </p:sp>
      <p:sp>
        <p:nvSpPr>
          <p:cNvPr id="13" name="Shape 11"/>
          <p:cNvSpPr/>
          <p:nvPr/>
        </p:nvSpPr>
        <p:spPr>
          <a:xfrm>
            <a:off x="457200" y="3749040"/>
            <a:ext cx="384048" cy="384048"/>
          </a:xfrm>
          <a:prstGeom prst="ellipse">
            <a:avLst/>
          </a:prstGeom>
          <a:solidFill>
            <a:srgbClr val="EB6834"/>
          </a:solidFill>
          <a:ln/>
        </p:spPr>
      </p:sp>
      <p:sp>
        <p:nvSpPr>
          <p:cNvPr id="14" name="Text 12"/>
          <p:cNvSpPr txBox="1"/>
          <p:nvPr/>
        </p:nvSpPr>
        <p:spPr>
          <a:xfrm>
            <a:off x="457200" y="37490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5" name="Text 13"/>
          <p:cNvSpPr txBox="1"/>
          <p:nvPr/>
        </p:nvSpPr>
        <p:spPr>
          <a:xfrm>
            <a:off x="960120" y="3675888"/>
            <a:ext cx="4297680" cy="731520"/>
          </a:xfrm>
          <a:prstGeom prst="rect">
            <a:avLst/>
          </a:prstGeom>
          <a:noFill/>
          <a:ln/>
        </p:spPr>
        <p:txBody>
          <a:bodyPr wrap="square" lIns="0" tIns="0" rIns="0" bIns="0" rtlCol="0" anchor="t"/>
          <a:lstStyle/>
          <a:p>
            <a:pPr marL="0" indent="0">
              <a:buNone/>
            </a:pPr>
            <a:r>
              <a:rPr lang="en-US" sz="1200" b="1" dirty="0">
                <a:solidFill>
                  <a:srgbClr val="1E2761"/>
                </a:solidFill>
                <a:latin typeface="Calibri" pitchFamily="34" charset="0"/>
                <a:ea typeface="Calibri" pitchFamily="34" charset="-122"/>
                <a:cs typeface="Calibri" pitchFamily="34" charset="-120"/>
              </a:rPr>
              <a:t>Selection. </a:t>
            </a:r>
            <a:r>
              <a:rPr lang="en-US" sz="1200" dirty="0">
                <a:solidFill>
                  <a:srgbClr val="1B1B1B"/>
                </a:solidFill>
                <a:latin typeface="Calibri" pitchFamily="34" charset="0"/>
                <a:ea typeface="Calibri" pitchFamily="34" charset="-122"/>
                <a:cs typeface="Calibri" pitchFamily="34" charset="-120"/>
              </a:rPr>
              <a:t>Hard rule on 4,096 validation paths at checkpoints 0, 400, …, 2,400; best mean wins, ties → earliest.</a:t>
            </a:r>
            <a:endParaRPr lang="en-US" sz="1200" dirty="0"/>
          </a:p>
        </p:txBody>
      </p:sp>
      <p:sp>
        <p:nvSpPr>
          <p:cNvPr id="16" name="Shape 14"/>
          <p:cNvSpPr/>
          <p:nvPr/>
        </p:nvSpPr>
        <p:spPr>
          <a:xfrm>
            <a:off x="5486400" y="1234440"/>
            <a:ext cx="3200400" cy="3291840"/>
          </a:xfrm>
          <a:prstGeom prst="roundRect">
            <a:avLst>
              <a:gd name="adj" fmla="val 2286"/>
            </a:avLst>
          </a:prstGeom>
          <a:solidFill>
            <a:srgbClr val="EEF2FB"/>
          </a:solidFill>
          <a:ln w="12700">
            <a:solidFill>
              <a:srgbClr val="EEF2FB"/>
            </a:solidFill>
            <a:prstDash val="solid"/>
          </a:ln>
        </p:spPr>
      </p:sp>
      <p:sp>
        <p:nvSpPr>
          <p:cNvPr id="17" name="Text 15"/>
          <p:cNvSpPr txBox="1"/>
          <p:nvPr/>
        </p:nvSpPr>
        <p:spPr>
          <a:xfrm>
            <a:off x="5623560" y="1371600"/>
            <a:ext cx="2926080" cy="3063240"/>
          </a:xfrm>
          <a:prstGeom prst="rect">
            <a:avLst/>
          </a:prstGeom>
          <a:noFill/>
          <a:ln/>
        </p:spPr>
        <p:txBody>
          <a:bodyPr wrap="square" lIns="0" tIns="0" rIns="0" bIns="0" rtlCol="0" anchor="t"/>
          <a:lstStyle/>
          <a:p>
            <a:pPr marL="0" indent="0">
              <a:buNone/>
            </a:pPr>
            <a:r>
              <a:rPr lang="en-US" sz="1500" b="1" dirty="0">
                <a:solidFill>
                  <a:srgbClr val="1E2761"/>
                </a:solidFill>
                <a:latin typeface="Cambria" pitchFamily="34" charset="0"/>
                <a:ea typeface="Cambria" pitchFamily="34" charset="-122"/>
                <a:cs typeface="Cambria" pitchFamily="34" charset="-120"/>
              </a:rPr>
              <a:t>Randomised stopping</a:t>
            </a:r>
            <a:endParaRPr lang="en-US" sz="1150" dirty="0"/>
          </a:p>
          <a:p>
            <a:pPr marL="0" indent="0">
              <a:buNone/>
            </a:pPr>
            <a:r>
              <a:rPr lang="en-US" sz="1150" dirty="0">
                <a:solidFill>
                  <a:srgbClr val="1B1B1B"/>
                </a:solidFill>
                <a:latin typeface="Calibri" pitchFamily="34" charset="0"/>
                <a:ea typeface="Calibri" pitchFamily="34" charset="-122"/>
                <a:cs typeface="Calibri" pitchFamily="34" charset="-120"/>
              </a:rPr>
              <a:t> </a:t>
            </a:r>
            <a:endParaRPr lang="en-US" sz="1150" dirty="0"/>
          </a:p>
          <a:p>
            <a:pPr marL="0" indent="0">
              <a:buNone/>
            </a:pPr>
            <a:r>
              <a:rPr lang="en-US" sz="1150" dirty="0">
                <a:solidFill>
                  <a:srgbClr val="1B1B1B"/>
                </a:solidFill>
                <a:latin typeface="Calibri" pitchFamily="34" charset="0"/>
                <a:ea typeface="Calibri" pitchFamily="34" charset="-122"/>
                <a:cs typeface="Calibri" pitchFamily="34" charset="-120"/>
              </a:rPr>
              <a:t>p_j = 1{S_j&lt;K} · sigmoid((b_θ(t_j) − S_j)/(εK)),  p_N = 1</a:t>
            </a:r>
            <a:endParaRPr lang="en-US" sz="1150" dirty="0"/>
          </a:p>
          <a:p>
            <a:pPr marL="0" indent="0">
              <a:buNone/>
            </a:pPr>
            <a:r>
              <a:rPr lang="en-US" sz="1150" dirty="0">
                <a:solidFill>
                  <a:srgbClr val="1B1B1B"/>
                </a:solidFill>
                <a:latin typeface="Calibri" pitchFamily="34" charset="0"/>
                <a:ea typeface="Calibri" pitchFamily="34" charset="-122"/>
                <a:cs typeface="Calibri" pitchFamily="34" charset="-120"/>
              </a:rPr>
              <a:t>w_j = p_j · Π_{k&lt;j} (1 − p_k)</a:t>
            </a:r>
            <a:endParaRPr lang="en-US" sz="1150" dirty="0"/>
          </a:p>
          <a:p>
            <a:pPr marL="0" indent="0">
              <a:buNone/>
            </a:pPr>
            <a:r>
              <a:rPr lang="en-US" sz="1150" dirty="0">
                <a:solidFill>
                  <a:srgbClr val="1B1B1B"/>
                </a:solidFill>
                <a:latin typeface="Calibri" pitchFamily="34" charset="0"/>
                <a:ea typeface="Calibri" pitchFamily="34" charset="-122"/>
                <a:cs typeface="Calibri" pitchFamily="34" charset="-120"/>
              </a:rPr>
              <a:t>R_θ = Σ_j w_j e^(−r(t_j − t_J)) (K − S_j)⁺</a:t>
            </a:r>
            <a:endParaRPr lang="en-US" sz="1150" dirty="0"/>
          </a:p>
          <a:p>
            <a:pPr marL="0" indent="0">
              <a:buNone/>
            </a:pPr>
            <a:r>
              <a:rPr lang="en-US" sz="1150" dirty="0">
                <a:solidFill>
                  <a:srgbClr val="1B1B1B"/>
                </a:solidFill>
                <a:latin typeface="Calibri" pitchFamily="34" charset="0"/>
                <a:ea typeface="Calibri" pitchFamily="34" charset="-122"/>
                <a:cs typeface="Calibri" pitchFamily="34" charset="-120"/>
              </a:rPr>
              <a:t> </a:t>
            </a:r>
            <a:endParaRPr lang="en-US" sz="1150" dirty="0"/>
          </a:p>
          <a:p>
            <a:pPr marL="0" indent="0">
              <a:buNone/>
            </a:pPr>
            <a:r>
              <a:rPr lang="en-US" sz="1150" dirty="0">
                <a:solidFill>
                  <a:srgbClr val="5A5F6E"/>
                </a:solidFill>
                <a:latin typeface="Calibri" pitchFamily="34" charset="0"/>
                <a:ea typeface="Calibri" pitchFamily="34" charset="-122"/>
                <a:cs typeface="Calibri" pitchFamily="34" charset="-120"/>
              </a:rPr>
              <a:t>w_j is the probability of stopping first at t_j, so R_θ is the path-conditional expected payoff of a randomised rule: smooth in θ, and equal to the hard rule as ε → 0 (checked to ≤ 1e-6 $).</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Validation cannot tell the checkpoints apart</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Paired validation gains vs checkpoint 0 are all within ~2 SE</a:t>
            </a:r>
            <a:endParaRPr lang="en-US" sz="1300" dirty="0"/>
          </a:p>
        </p:txBody>
      </p:sp>
      <p:pic>
        <p:nvPicPr>
          <p:cNvPr id="4" name="Image 0" descr="figures/p4_validation.png"/>
          <p:cNvPicPr>
            <a:picLocks noChangeAspect="1"/>
          </p:cNvPicPr>
          <p:nvPr/>
        </p:nvPicPr>
        <p:blipFill>
          <a:blip r:embed="rId3"/>
          <a:stretch>
            <a:fillRect/>
          </a:stretch>
        </p:blipFill>
        <p:spPr>
          <a:xfrm>
            <a:off x="457200" y="1234440"/>
            <a:ext cx="5120640" cy="2720340"/>
          </a:xfrm>
          <a:prstGeom prst="rect">
            <a:avLst/>
          </a:prstGeom>
        </p:spPr>
      </p:pic>
      <p:sp>
        <p:nvSpPr>
          <p:cNvPr id="5" name="Shape 2"/>
          <p:cNvSpPr/>
          <p:nvPr/>
        </p:nvSpPr>
        <p:spPr>
          <a:xfrm>
            <a:off x="5806440" y="1234440"/>
            <a:ext cx="2880360" cy="731520"/>
          </a:xfrm>
          <a:prstGeom prst="roundRect">
            <a:avLst>
              <a:gd name="adj" fmla="val 10000"/>
            </a:avLst>
          </a:prstGeom>
          <a:solidFill>
            <a:srgbClr val="EEF2FB"/>
          </a:solidFill>
          <a:ln w="12700">
            <a:solidFill>
              <a:srgbClr val="EEF2FB"/>
            </a:solidFill>
            <a:prstDash val="solid"/>
          </a:ln>
        </p:spPr>
      </p:sp>
      <p:sp>
        <p:nvSpPr>
          <p:cNvPr id="6" name="Text 3"/>
          <p:cNvSpPr txBox="1"/>
          <p:nvPr/>
        </p:nvSpPr>
        <p:spPr>
          <a:xfrm>
            <a:off x="5943600" y="1307592"/>
            <a:ext cx="2651760" cy="594360"/>
          </a:xfrm>
          <a:prstGeom prst="rect">
            <a:avLst/>
          </a:prstGeom>
          <a:noFill/>
          <a:ln/>
        </p:spPr>
        <p:txBody>
          <a:bodyPr wrap="square" lIns="0" tIns="0" rIns="0" bIns="0" rtlCol="0" anchor="t"/>
          <a:lstStyle/>
          <a:p>
            <a:pPr marL="0" indent="0">
              <a:buNone/>
            </a:pPr>
            <a:r>
              <a:rPr lang="en-US" sz="1200" b="1" dirty="0">
                <a:solidFill>
                  <a:srgbClr val="1E2761"/>
                </a:solidFill>
                <a:latin typeface="Calibri" pitchFamily="34" charset="0"/>
                <a:ea typeface="Calibri" pitchFamily="34" charset="-122"/>
                <a:cs typeface="Calibri" pitchFamily="34" charset="-120"/>
              </a:rPr>
              <a:t>Case 0: ckpt 2000</a:t>
            </a:r>
            <a:endParaRPr lang="en-US" sz="1200" dirty="0"/>
          </a:p>
          <a:p>
            <a:pPr marL="0" indent="0">
              <a:buNone/>
            </a:pPr>
            <a:r>
              <a:rPr lang="en-US" sz="1200" dirty="0">
                <a:solidFill>
                  <a:srgbClr val="5A5F6E"/>
                </a:solidFill>
                <a:latin typeface="Calibri" pitchFamily="34" charset="0"/>
                <a:ea typeface="Calibri" pitchFamily="34" charset="-122"/>
                <a:cs typeface="Calibri" pitchFamily="34" charset="-120"/>
              </a:rPr>
              <a:t>E_mean 0.069 → 0.072</a:t>
            </a:r>
            <a:endParaRPr lang="en-US" sz="1200" dirty="0"/>
          </a:p>
        </p:txBody>
      </p:sp>
      <p:sp>
        <p:nvSpPr>
          <p:cNvPr id="7" name="Shape 4"/>
          <p:cNvSpPr/>
          <p:nvPr/>
        </p:nvSpPr>
        <p:spPr>
          <a:xfrm>
            <a:off x="5806440" y="2075688"/>
            <a:ext cx="2880360" cy="731520"/>
          </a:xfrm>
          <a:prstGeom prst="roundRect">
            <a:avLst>
              <a:gd name="adj" fmla="val 10000"/>
            </a:avLst>
          </a:prstGeom>
          <a:solidFill>
            <a:srgbClr val="EEF2FB"/>
          </a:solidFill>
          <a:ln w="12700">
            <a:solidFill>
              <a:srgbClr val="EEF2FB"/>
            </a:solidFill>
            <a:prstDash val="solid"/>
          </a:ln>
        </p:spPr>
      </p:sp>
      <p:sp>
        <p:nvSpPr>
          <p:cNvPr id="8" name="Text 5"/>
          <p:cNvSpPr txBox="1"/>
          <p:nvPr/>
        </p:nvSpPr>
        <p:spPr>
          <a:xfrm>
            <a:off x="5943600" y="2148840"/>
            <a:ext cx="2651760" cy="594360"/>
          </a:xfrm>
          <a:prstGeom prst="rect">
            <a:avLst/>
          </a:prstGeom>
          <a:noFill/>
          <a:ln/>
        </p:spPr>
        <p:txBody>
          <a:bodyPr wrap="square" lIns="0" tIns="0" rIns="0" bIns="0" rtlCol="0" anchor="t"/>
          <a:lstStyle/>
          <a:p>
            <a:pPr marL="0" indent="0">
              <a:buNone/>
            </a:pPr>
            <a:r>
              <a:rPr lang="en-US" sz="1200" b="1" dirty="0">
                <a:solidFill>
                  <a:srgbClr val="1E2761"/>
                </a:solidFill>
                <a:latin typeface="Calibri" pitchFamily="34" charset="0"/>
                <a:ea typeface="Calibri" pitchFamily="34" charset="-122"/>
                <a:cs typeface="Calibri" pitchFamily="34" charset="-120"/>
              </a:rPr>
              <a:t>Case 1: ckpt 2000</a:t>
            </a:r>
            <a:endParaRPr lang="en-US" sz="1200" dirty="0"/>
          </a:p>
          <a:p>
            <a:pPr marL="0" indent="0">
              <a:buNone/>
            </a:pPr>
            <a:r>
              <a:rPr lang="en-US" sz="1200" dirty="0">
                <a:solidFill>
                  <a:srgbClr val="5A5F6E"/>
                </a:solidFill>
                <a:latin typeface="Calibri" pitchFamily="34" charset="0"/>
                <a:ea typeface="Calibri" pitchFamily="34" charset="-122"/>
                <a:cs typeface="Calibri" pitchFamily="34" charset="-120"/>
              </a:rPr>
              <a:t>E_mean 0.019 → 0.017</a:t>
            </a:r>
            <a:endParaRPr lang="en-US" sz="1200" dirty="0"/>
          </a:p>
        </p:txBody>
      </p:sp>
      <p:sp>
        <p:nvSpPr>
          <p:cNvPr id="9" name="Shape 6"/>
          <p:cNvSpPr/>
          <p:nvPr/>
        </p:nvSpPr>
        <p:spPr>
          <a:xfrm>
            <a:off x="5806440" y="2916936"/>
            <a:ext cx="2880360" cy="731520"/>
          </a:xfrm>
          <a:prstGeom prst="roundRect">
            <a:avLst>
              <a:gd name="adj" fmla="val 10000"/>
            </a:avLst>
          </a:prstGeom>
          <a:solidFill>
            <a:srgbClr val="EEF2FB"/>
          </a:solidFill>
          <a:ln w="12700">
            <a:solidFill>
              <a:srgbClr val="EEF2FB"/>
            </a:solidFill>
            <a:prstDash val="solid"/>
          </a:ln>
        </p:spPr>
      </p:sp>
      <p:sp>
        <p:nvSpPr>
          <p:cNvPr id="10" name="Text 7"/>
          <p:cNvSpPr txBox="1"/>
          <p:nvPr/>
        </p:nvSpPr>
        <p:spPr>
          <a:xfrm>
            <a:off x="5943600" y="2990088"/>
            <a:ext cx="2651760" cy="594360"/>
          </a:xfrm>
          <a:prstGeom prst="rect">
            <a:avLst/>
          </a:prstGeom>
          <a:noFill/>
          <a:ln/>
        </p:spPr>
        <p:txBody>
          <a:bodyPr wrap="square" lIns="0" tIns="0" rIns="0" bIns="0" rtlCol="0" anchor="t"/>
          <a:lstStyle/>
          <a:p>
            <a:pPr marL="0" indent="0">
              <a:buNone/>
            </a:pPr>
            <a:r>
              <a:rPr lang="en-US" sz="1200" b="1" dirty="0">
                <a:solidFill>
                  <a:srgbClr val="1E2761"/>
                </a:solidFill>
                <a:latin typeface="Calibri" pitchFamily="34" charset="0"/>
                <a:ea typeface="Calibri" pitchFamily="34" charset="-122"/>
                <a:cs typeface="Calibri" pitchFamily="34" charset="-120"/>
              </a:rPr>
              <a:t>Case 2: ckpt 1200</a:t>
            </a:r>
            <a:endParaRPr lang="en-US" sz="1200" dirty="0"/>
          </a:p>
          <a:p>
            <a:pPr marL="0" indent="0">
              <a:buNone/>
            </a:pPr>
            <a:r>
              <a:rPr lang="en-US" sz="1200" dirty="0">
                <a:solidFill>
                  <a:srgbClr val="5A5F6E"/>
                </a:solidFill>
                <a:latin typeface="Calibri" pitchFamily="34" charset="0"/>
                <a:ea typeface="Calibri" pitchFamily="34" charset="-122"/>
                <a:cs typeface="Calibri" pitchFamily="34" charset="-120"/>
              </a:rPr>
              <a:t>E_mean 0.064 → 0.062</a:t>
            </a:r>
            <a:endParaRPr lang="en-US" sz="1200" dirty="0"/>
          </a:p>
        </p:txBody>
      </p:sp>
      <p:sp>
        <p:nvSpPr>
          <p:cNvPr id="11" name="Shape 8"/>
          <p:cNvSpPr/>
          <p:nvPr/>
        </p:nvSpPr>
        <p:spPr>
          <a:xfrm>
            <a:off x="5806440" y="3758184"/>
            <a:ext cx="2880360" cy="731520"/>
          </a:xfrm>
          <a:prstGeom prst="roundRect">
            <a:avLst>
              <a:gd name="adj" fmla="val 10000"/>
            </a:avLst>
          </a:prstGeom>
          <a:solidFill>
            <a:srgbClr val="EEF2FB"/>
          </a:solidFill>
          <a:ln w="12700">
            <a:solidFill>
              <a:srgbClr val="EEF2FB"/>
            </a:solidFill>
            <a:prstDash val="solid"/>
          </a:ln>
        </p:spPr>
      </p:sp>
      <p:sp>
        <p:nvSpPr>
          <p:cNvPr id="12" name="Text 9"/>
          <p:cNvSpPr txBox="1"/>
          <p:nvPr/>
        </p:nvSpPr>
        <p:spPr>
          <a:xfrm>
            <a:off x="5943600" y="3831336"/>
            <a:ext cx="2651760" cy="594360"/>
          </a:xfrm>
          <a:prstGeom prst="rect">
            <a:avLst/>
          </a:prstGeom>
          <a:noFill/>
          <a:ln/>
        </p:spPr>
        <p:txBody>
          <a:bodyPr wrap="square" lIns="0" tIns="0" rIns="0" bIns="0" rtlCol="0" anchor="t"/>
          <a:lstStyle/>
          <a:p>
            <a:pPr marL="0" indent="0">
              <a:buNone/>
            </a:pPr>
            <a:r>
              <a:rPr lang="en-US" sz="1200" b="1" dirty="0">
                <a:solidFill>
                  <a:srgbClr val="1E2761"/>
                </a:solidFill>
                <a:latin typeface="Calibri" pitchFamily="34" charset="0"/>
                <a:ea typeface="Calibri" pitchFamily="34" charset="-122"/>
                <a:cs typeface="Calibri" pitchFamily="34" charset="-120"/>
              </a:rPr>
              <a:t>Case 3: ckpt 2400</a:t>
            </a:r>
            <a:endParaRPr lang="en-US" sz="1200" dirty="0"/>
          </a:p>
          <a:p>
            <a:pPr marL="0" indent="0">
              <a:buNone/>
            </a:pPr>
            <a:r>
              <a:rPr lang="en-US" sz="1200" dirty="0">
                <a:solidFill>
                  <a:srgbClr val="EB6834"/>
                </a:solidFill>
                <a:latin typeface="Calibri" pitchFamily="34" charset="0"/>
                <a:ea typeface="Calibri" pitchFamily="34" charset="-122"/>
                <a:cs typeface="Calibri" pitchFamily="34" charset="-120"/>
              </a:rPr>
              <a:t>E_mean 0.029 → 0.043</a:t>
            </a:r>
            <a:endParaRPr lang="en-US" sz="1200" dirty="0"/>
          </a:p>
        </p:txBody>
      </p:sp>
      <p:sp>
        <p:nvSpPr>
          <p:cNvPr id="13" name="Text 10"/>
          <p:cNvSpPr txBox="1"/>
          <p:nvPr/>
        </p:nvSpPr>
        <p:spPr>
          <a:xfrm>
            <a:off x="457200" y="4754880"/>
            <a:ext cx="8229600" cy="274320"/>
          </a:xfrm>
          <a:prstGeom prst="rect">
            <a:avLst/>
          </a:prstGeom>
          <a:noFill/>
          <a:ln/>
        </p:spPr>
        <p:txBody>
          <a:bodyPr wrap="square" lIns="0" tIns="0" rIns="0" bIns="0" rtlCol="0" anchor="ctr"/>
          <a:lstStyle/>
          <a:p>
            <a:pPr marL="0" indent="0">
              <a:buNone/>
            </a:pPr>
            <a:r>
              <a:rPr lang="en-US" sz="900" i="1" dirty="0">
                <a:solidFill>
                  <a:srgbClr val="5A5F6E"/>
                </a:solidFill>
                <a:latin typeface="Calibri" pitchFamily="34" charset="0"/>
                <a:ea typeface="Calibri" pitchFamily="34" charset="-122"/>
                <a:cs typeface="Calibri" pitchFamily="34" charset="-120"/>
              </a:rPr>
              <a:t>Checkpoint 0 was never selected, yet payoff training barely changed the boundary error in cases 0–2 and worsened it in case 3.</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Three boundaries (N = 360)</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Figure 1 — reference (blue), LS (orange), selected neural policy (green), N = 180 reference dashed</a:t>
            </a:r>
            <a:endParaRPr lang="en-US" sz="1300" dirty="0"/>
          </a:p>
        </p:txBody>
      </p:sp>
      <p:pic>
        <p:nvPicPr>
          <p:cNvPr id="4" name="Image 0" descr="figures/fig1_boundaries.png"/>
          <p:cNvPicPr>
            <a:picLocks noChangeAspect="1"/>
          </p:cNvPicPr>
          <p:nvPr/>
        </p:nvPicPr>
        <p:blipFill>
          <a:blip r:embed="rId3"/>
          <a:stretch>
            <a:fillRect/>
          </a:stretch>
        </p:blipFill>
        <p:spPr>
          <a:xfrm>
            <a:off x="457200" y="1188720"/>
            <a:ext cx="8229600" cy="32918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Around the final dividend</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Figure 2 — case 3, |t − d₃| ≤ 1/24</a:t>
            </a:r>
            <a:endParaRPr lang="en-US" sz="1300" dirty="0"/>
          </a:p>
        </p:txBody>
      </p:sp>
      <p:pic>
        <p:nvPicPr>
          <p:cNvPr id="4" name="Image 0" descr="figures/fig2_final_dividend.png"/>
          <p:cNvPicPr>
            <a:picLocks noChangeAspect="1"/>
          </p:cNvPicPr>
          <p:nvPr/>
        </p:nvPicPr>
        <p:blipFill>
          <a:blip r:embed="rId3"/>
          <a:stretch>
            <a:fillRect/>
          </a:stretch>
        </p:blipFill>
        <p:spPr>
          <a:xfrm>
            <a:off x="457200" y="1188720"/>
            <a:ext cx="5120640" cy="3138457"/>
          </a:xfrm>
          <a:prstGeom prst="rect">
            <a:avLst/>
          </a:prstGeom>
        </p:spPr>
      </p:pic>
      <p:sp>
        <p:nvSpPr>
          <p:cNvPr id="5" name="Text 2"/>
          <p:cNvSpPr txBox="1"/>
          <p:nvPr/>
        </p:nvSpPr>
        <p:spPr>
          <a:xfrm>
            <a:off x="5760720" y="1280160"/>
            <a:ext cx="2926080" cy="3200400"/>
          </a:xfrm>
          <a:prstGeom prst="rect">
            <a:avLst/>
          </a:prstGeom>
          <a:noFill/>
          <a:ln/>
        </p:spPr>
        <p:txBody>
          <a:bodyPr wrap="square" lIns="635" tIns="635" rIns="635" bIns="635" rtlCol="0" anchor="t"/>
          <a:lstStyle/>
          <a:p>
            <a:pPr marL="342900" indent="-342900">
              <a:spcAft>
                <a:spcPts val="600"/>
              </a:spcAft>
              <a:buSzPct val="100000"/>
              <a:buChar char="•"/>
            </a:pPr>
            <a:r>
              <a:rPr lang="en-US" sz="1200" dirty="0">
                <a:solidFill>
                  <a:srgbClr val="1B1B1B"/>
                </a:solidFill>
                <a:latin typeface="Calibri" pitchFamily="34" charset="0"/>
                <a:ea typeface="Calibri" pitchFamily="34" charset="-122"/>
                <a:cs typeface="Calibri" pitchFamily="34" charset="-120"/>
              </a:rPr>
              <a:t>Right of the dotted line = before d₃ in calendar time: the reference sits exactly on the Part 1 bound.</a:t>
            </a:r>
            <a:endParaRPr lang="en-US" sz="1200" dirty="0"/>
          </a:p>
          <a:p>
            <a:pPr marL="342900" indent="-342900">
              <a:spcAft>
                <a:spcPts val="600"/>
              </a:spcAft>
              <a:buSzPct val="100000"/>
              <a:buChar char="•"/>
            </a:pPr>
            <a:r>
              <a:rPr lang="en-US" sz="1200" dirty="0">
                <a:solidFill>
                  <a:srgbClr val="1B1B1B"/>
                </a:solidFill>
                <a:latin typeface="Calibri" pitchFamily="34" charset="0"/>
                <a:ea typeface="Calibri" pitchFamily="34" charset="-122"/>
                <a:cs typeface="Calibri" pitchFamily="34" charset="-120"/>
              </a:rPr>
              <a:t>LS and NN stay below the cap there: the premium δs − K(1 − e^(−rε)) is only cents.</a:t>
            </a:r>
            <a:endParaRPr lang="en-US" sz="1200" dirty="0"/>
          </a:p>
          <a:p>
            <a:pPr marL="342900" indent="-342900">
              <a:spcAft>
                <a:spcPts val="600"/>
              </a:spcAft>
              <a:buSzPct val="100000"/>
              <a:buChar char="•"/>
            </a:pPr>
            <a:r>
              <a:rPr lang="en-US" sz="1200" dirty="0">
                <a:solidFill>
                  <a:srgbClr val="1B1B1B"/>
                </a:solidFill>
                <a:latin typeface="Calibri" pitchFamily="34" charset="0"/>
                <a:ea typeface="Calibri" pitchFamily="34" charset="-122"/>
                <a:cs typeface="Calibri" pitchFamily="34" charset="-120"/>
              </a:rPr>
              <a:t>Left = after d₃: no dividend remains and the boundary rises to K; LS is ~0.12K low, the NN only ~0.02K.</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Large boundary error, small price error</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Part 5 prices — 50,000 independent paths per start, common paths across policies, float64</a:t>
            </a:r>
            <a:endParaRPr lang="en-US" sz="13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280160"/>
          <a:ext cx="5120640" cy="2962656"/>
        </p:xfrm>
        <a:graphic>
          <a:graphicData uri="http://schemas.openxmlformats.org/drawingml/2006/table">
            <a:tbl>
              <a:tblPr/>
              <a:tblGrid>
                <a:gridCol w="5486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463040">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Case</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S₀</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Reference</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LS (SE)</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NN (SE)</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329184">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20.8688</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20.661 (0.056)</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20.632 (0.056)</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8.8078</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8.640 (0.050)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8.623 (0.050)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22.1096</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22.017 (0.062)</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22.029 (0.058)</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10.1264</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10.043 (0.054)</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10.048 (0.053)</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20.8710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20.601 (0.055)</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20.633 (0.055)</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8.8091</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8.586 (0.050)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8.593 (0.050)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22.1102</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22.087 (0.063)</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22.027 (0.055)</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29184">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10.1270</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10.072 (0.055)</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tc>
                  <a:txBody>
                    <a:bodyPr/>
                    <a:lstStyle/>
                    <a:p>
                      <a:pPr marL="0" indent="0">
                        <a:buNone/>
                      </a:pPr>
                      <a:r>
                        <a:rPr lang="en-US" sz="1200" dirty="0">
                          <a:solidFill>
                            <a:srgbClr val="1B1B1B"/>
                          </a:solidFill>
                          <a:latin typeface="Calibri" pitchFamily="34" charset="0"/>
                          <a:ea typeface="Calibri" pitchFamily="34" charset="-122"/>
                          <a:cs typeface="Calibri" pitchFamily="34" charset="-120"/>
                        </a:rPr>
                        <a:t>10.068 (0.052)</a:t>
                      </a:r>
                      <a:endParaRPr lang="en-US" sz="1200" dirty="0">
                        <a:latin typeface="Calibri" charset="0"/>
                        <a:ea typeface="Calibri" charset="0"/>
                        <a:cs typeface="Calibri" charset="0"/>
                      </a:endParaRPr>
                    </a:p>
                  </a:txBody>
                  <a:tcPr>
                    <a:lnL w="6350" cap="flat" cmpd="sng" algn="ctr">
                      <a:solidFill>
                        <a:srgbClr val="D5DAE6"/>
                      </a:solidFill>
                      <a:prstDash val="solid"/>
                      <a:round/>
                      <a:headEnd type="none" w="med" len="med"/>
                      <a:tailEnd type="none" w="med" len="med"/>
                    </a:lnL>
                    <a:lnR w="6350" cap="flat" cmpd="sng" algn="ctr">
                      <a:solidFill>
                        <a:srgbClr val="D5DAE6"/>
                      </a:solidFill>
                      <a:prstDash val="solid"/>
                      <a:round/>
                      <a:headEnd type="none" w="med" len="med"/>
                      <a:tailEnd type="none" w="med" len="med"/>
                    </a:lnR>
                    <a:lnT w="6350" cap="flat" cmpd="sng" algn="ctr">
                      <a:solidFill>
                        <a:srgbClr val="D5DAE6"/>
                      </a:solidFill>
                      <a:prstDash val="solid"/>
                      <a:round/>
                      <a:headEnd type="none" w="med" len="med"/>
                      <a:tailEnd type="none" w="med" len="med"/>
                    </a:lnT>
                    <a:lnB w="6350" cap="flat" cmpd="sng" algn="ctr">
                      <a:solidFill>
                        <a:srgbClr val="D5DAE6"/>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5" name="Shape 2"/>
          <p:cNvSpPr/>
          <p:nvPr/>
        </p:nvSpPr>
        <p:spPr>
          <a:xfrm>
            <a:off x="5806440" y="1280160"/>
            <a:ext cx="2880360" cy="1051560"/>
          </a:xfrm>
          <a:prstGeom prst="roundRect">
            <a:avLst>
              <a:gd name="adj" fmla="val 6957"/>
            </a:avLst>
          </a:prstGeom>
          <a:solidFill>
            <a:srgbClr val="EEF2FB"/>
          </a:solidFill>
          <a:ln w="12700">
            <a:solidFill>
              <a:srgbClr val="EEF2FB"/>
            </a:solidFill>
            <a:prstDash val="solid"/>
          </a:ln>
        </p:spPr>
      </p:sp>
      <p:sp>
        <p:nvSpPr>
          <p:cNvPr id="6" name="Text 3"/>
          <p:cNvSpPr txBox="1"/>
          <p:nvPr/>
        </p:nvSpPr>
        <p:spPr>
          <a:xfrm>
            <a:off x="5943600" y="1353312"/>
            <a:ext cx="2606040" cy="548640"/>
          </a:xfrm>
          <a:prstGeom prst="rect">
            <a:avLst/>
          </a:prstGeom>
          <a:noFill/>
          <a:ln/>
        </p:spPr>
        <p:txBody>
          <a:bodyPr wrap="square" lIns="0" tIns="0" rIns="0" bIns="0" rtlCol="0" anchor="ctr"/>
          <a:lstStyle/>
          <a:p>
            <a:pPr marL="0" indent="0">
              <a:buNone/>
            </a:pPr>
            <a:r>
              <a:rPr lang="en-US" sz="2400" b="1" dirty="0">
                <a:solidFill>
                  <a:srgbClr val="EB6834"/>
                </a:solidFill>
                <a:latin typeface="Cambria" pitchFamily="34" charset="0"/>
                <a:ea typeface="Cambria" pitchFamily="34" charset="-122"/>
                <a:cs typeface="Cambria" pitchFamily="34" charset="-120"/>
              </a:rPr>
              <a:t>3–7 % | 2–7 %</a:t>
            </a:r>
            <a:endParaRPr lang="en-US" sz="2400" dirty="0"/>
          </a:p>
        </p:txBody>
      </p:sp>
      <p:sp>
        <p:nvSpPr>
          <p:cNvPr id="7" name="Text 4"/>
          <p:cNvSpPr txBox="1"/>
          <p:nvPr/>
        </p:nvSpPr>
        <p:spPr>
          <a:xfrm>
            <a:off x="5943600" y="1883664"/>
            <a:ext cx="260604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mean boundary error E_mean of K: LS | NN</a:t>
            </a:r>
            <a:endParaRPr lang="en-US" sz="1100" dirty="0"/>
          </a:p>
        </p:txBody>
      </p:sp>
      <p:sp>
        <p:nvSpPr>
          <p:cNvPr id="8" name="Shape 5"/>
          <p:cNvSpPr/>
          <p:nvPr/>
        </p:nvSpPr>
        <p:spPr>
          <a:xfrm>
            <a:off x="5806440" y="2468880"/>
            <a:ext cx="2880360" cy="1051560"/>
          </a:xfrm>
          <a:prstGeom prst="roundRect">
            <a:avLst>
              <a:gd name="adj" fmla="val 6957"/>
            </a:avLst>
          </a:prstGeom>
          <a:solidFill>
            <a:srgbClr val="EEF2FB"/>
          </a:solidFill>
          <a:ln w="12700">
            <a:solidFill>
              <a:srgbClr val="EEF2FB"/>
            </a:solidFill>
            <a:prstDash val="solid"/>
          </a:ln>
        </p:spPr>
      </p:sp>
      <p:sp>
        <p:nvSpPr>
          <p:cNvPr id="9" name="Text 6"/>
          <p:cNvSpPr txBox="1"/>
          <p:nvPr/>
        </p:nvSpPr>
        <p:spPr>
          <a:xfrm>
            <a:off x="5943600" y="2542032"/>
            <a:ext cx="2606040" cy="548640"/>
          </a:xfrm>
          <a:prstGeom prst="rect">
            <a:avLst/>
          </a:prstGeom>
          <a:noFill/>
          <a:ln/>
        </p:spPr>
        <p:txBody>
          <a:bodyPr wrap="square" lIns="0" tIns="0" rIns="0" bIns="0" rtlCol="0" anchor="ctr"/>
          <a:lstStyle/>
          <a:p>
            <a:pPr marL="0" indent="0">
              <a:buNone/>
            </a:pPr>
            <a:r>
              <a:rPr lang="en-US" sz="2400" b="1" dirty="0">
                <a:solidFill>
                  <a:srgbClr val="2A78D6"/>
                </a:solidFill>
                <a:latin typeface="Cambria" pitchFamily="34" charset="0"/>
                <a:ea typeface="Cambria" pitchFamily="34" charset="-122"/>
                <a:cs typeface="Cambria" pitchFamily="34" charset="-120"/>
              </a:rPr>
              <a:t>0.02–0.25 $</a:t>
            </a:r>
            <a:endParaRPr lang="en-US" sz="2400" dirty="0"/>
          </a:p>
        </p:txBody>
      </p:sp>
      <p:sp>
        <p:nvSpPr>
          <p:cNvPr id="10" name="Text 7"/>
          <p:cNvSpPr txBox="1"/>
          <p:nvPr/>
        </p:nvSpPr>
        <p:spPr>
          <a:xfrm>
            <a:off x="5943600" y="3072384"/>
            <a:ext cx="260604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paired LS price loss vs the reference boundary rule (same paths)</a:t>
            </a:r>
            <a:endParaRPr lang="en-US" sz="1100" dirty="0"/>
          </a:p>
        </p:txBody>
      </p:sp>
      <p:sp>
        <p:nvSpPr>
          <p:cNvPr id="11" name="Text 8"/>
          <p:cNvSpPr txBox="1"/>
          <p:nvPr/>
        </p:nvSpPr>
        <p:spPr>
          <a:xfrm>
            <a:off x="5806440" y="3657600"/>
            <a:ext cx="2880360" cy="1005840"/>
          </a:xfrm>
          <a:prstGeom prst="rect">
            <a:avLst/>
          </a:prstGeom>
          <a:noFill/>
          <a:ln/>
        </p:spPr>
        <p:txBody>
          <a:bodyPr wrap="square" lIns="0" tIns="0" rIns="0" bIns="0" rtlCol="0" anchor="t"/>
          <a:lstStyle/>
          <a:p>
            <a:pPr marL="0" indent="0">
              <a:buNone/>
            </a:pPr>
            <a:r>
              <a:rPr lang="en-US" sz="1050" dirty="0">
                <a:solidFill>
                  <a:srgbClr val="5A5F6E"/>
                </a:solidFill>
                <a:latin typeface="Calibri" pitchFamily="34" charset="0"/>
                <a:ea typeface="Calibri" pitchFamily="34" charset="-122"/>
                <a:cs typeface="Calibri" pitchFamily="34" charset="-120"/>
              </a:rPr>
              <a:t>S₀ = 60 omitted: every policy exercises at once (value 40) except the case-3 NN, which loses 0.045 $ there. Smooth pasting makes price error roughly second order in boundary error.</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800" b="1" dirty="0">
                <a:solidFill>
                  <a:srgbClr val="1E2761"/>
                </a:solidFill>
                <a:latin typeface="Cambria" pitchFamily="34" charset="0"/>
                <a:ea typeface="Cambria" pitchFamily="34" charset="-122"/>
                <a:cs typeface="Cambria" pitchFamily="34" charset="-120"/>
              </a:rPr>
              <a:t>Too early costs, a bit later is free</a:t>
            </a:r>
            <a:endParaRPr lang="en-US" sz="2800" dirty="0"/>
          </a:p>
        </p:txBody>
      </p:sp>
      <p:sp>
        <p:nvSpPr>
          <p:cNvPr id="3" name="Text 1"/>
          <p:cNvSpPr txBox="1"/>
          <p:nvPr/>
        </p:nvSpPr>
        <p:spPr>
          <a:xfrm>
            <a:off x="457200" y="804672"/>
            <a:ext cx="8229600" cy="320040"/>
          </a:xfrm>
          <a:prstGeom prst="rect">
            <a:avLst/>
          </a:prstGeom>
          <a:noFill/>
          <a:ln/>
        </p:spPr>
        <p:txBody>
          <a:bodyPr wrap="square" lIns="0" tIns="0" rIns="0" bIns="0" rtlCol="0" anchor="ctr"/>
          <a:lstStyle/>
          <a:p>
            <a:pPr marL="0" indent="0">
              <a:buNone/>
            </a:pPr>
            <a:r>
              <a:rPr lang="en-US" sz="1300" i="1" dirty="0">
                <a:solidFill>
                  <a:srgbClr val="5A5F6E"/>
                </a:solidFill>
                <a:latin typeface="Calibri" pitchFamily="34" charset="0"/>
                <a:ea typeface="Calibri" pitchFamily="34" charset="-122"/>
                <a:cs typeface="Calibri" pitchFamily="34" charset="-120"/>
              </a:rPr>
              <a:t>Part 5.3 — case 3, S₀ = 100: shift the NN boundary by aK, cap at U_j, floor at 0</a:t>
            </a:r>
            <a:endParaRPr lang="en-US" sz="1300" dirty="0"/>
          </a:p>
        </p:txBody>
      </p:sp>
      <p:pic>
        <p:nvPicPr>
          <p:cNvPr id="4" name="Image 0" descr="figures/p5_perturbation.png"/>
          <p:cNvPicPr>
            <a:picLocks noChangeAspect="1"/>
          </p:cNvPicPr>
          <p:nvPr/>
        </p:nvPicPr>
        <p:blipFill>
          <a:blip r:embed="rId3"/>
          <a:stretch>
            <a:fillRect/>
          </a:stretch>
        </p:blipFill>
        <p:spPr>
          <a:xfrm>
            <a:off x="457200" y="1188720"/>
            <a:ext cx="5120640" cy="2808093"/>
          </a:xfrm>
          <a:prstGeom prst="rect">
            <a:avLst/>
          </a:prstGeom>
        </p:spPr>
      </p:pic>
      <p:sp>
        <p:nvSpPr>
          <p:cNvPr id="5" name="Shape 2"/>
          <p:cNvSpPr/>
          <p:nvPr/>
        </p:nvSpPr>
        <p:spPr>
          <a:xfrm>
            <a:off x="5806440" y="1188720"/>
            <a:ext cx="2880360" cy="1051560"/>
          </a:xfrm>
          <a:prstGeom prst="roundRect">
            <a:avLst>
              <a:gd name="adj" fmla="val 6957"/>
            </a:avLst>
          </a:prstGeom>
          <a:solidFill>
            <a:srgbClr val="EEF2FB"/>
          </a:solidFill>
          <a:ln w="12700">
            <a:solidFill>
              <a:srgbClr val="EEF2FB"/>
            </a:solidFill>
            <a:prstDash val="solid"/>
          </a:ln>
        </p:spPr>
      </p:sp>
      <p:sp>
        <p:nvSpPr>
          <p:cNvPr id="6" name="Text 3"/>
          <p:cNvSpPr txBox="1"/>
          <p:nvPr/>
        </p:nvSpPr>
        <p:spPr>
          <a:xfrm>
            <a:off x="5943600" y="1261872"/>
            <a:ext cx="2606040" cy="548640"/>
          </a:xfrm>
          <a:prstGeom prst="rect">
            <a:avLst/>
          </a:prstGeom>
          <a:noFill/>
          <a:ln/>
        </p:spPr>
        <p:txBody>
          <a:bodyPr wrap="square" lIns="0" tIns="0" rIns="0" bIns="0" rtlCol="0" anchor="ctr"/>
          <a:lstStyle/>
          <a:p>
            <a:pPr marL="0" indent="0">
              <a:buNone/>
            </a:pPr>
            <a:r>
              <a:rPr lang="en-US" sz="2400" b="1" dirty="0">
                <a:solidFill>
                  <a:srgbClr val="2A78D6"/>
                </a:solidFill>
                <a:latin typeface="Cambria" pitchFamily="34" charset="0"/>
                <a:ea typeface="Cambria" pitchFamily="34" charset="-122"/>
                <a:cs typeface="Cambria" pitchFamily="34" charset="-120"/>
              </a:rPr>
              <a:t>+0.022 $</a:t>
            </a:r>
            <a:endParaRPr lang="en-US" sz="2400" dirty="0"/>
          </a:p>
        </p:txBody>
      </p:sp>
      <p:sp>
        <p:nvSpPr>
          <p:cNvPr id="7" name="Text 4"/>
          <p:cNvSpPr txBox="1"/>
          <p:nvPr/>
        </p:nvSpPr>
        <p:spPr>
          <a:xfrm>
            <a:off x="5943600" y="1792224"/>
            <a:ext cx="260604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a = −0.02: SE 0.011; 22% of paths now exercise later</a:t>
            </a:r>
            <a:endParaRPr lang="en-US" sz="1100" dirty="0"/>
          </a:p>
        </p:txBody>
      </p:sp>
      <p:sp>
        <p:nvSpPr>
          <p:cNvPr id="8" name="Shape 5"/>
          <p:cNvSpPr/>
          <p:nvPr/>
        </p:nvSpPr>
        <p:spPr>
          <a:xfrm>
            <a:off x="5806440" y="2377440"/>
            <a:ext cx="2880360" cy="1051560"/>
          </a:xfrm>
          <a:prstGeom prst="roundRect">
            <a:avLst>
              <a:gd name="adj" fmla="val 6957"/>
            </a:avLst>
          </a:prstGeom>
          <a:solidFill>
            <a:srgbClr val="EEF2FB"/>
          </a:solidFill>
          <a:ln w="12700">
            <a:solidFill>
              <a:srgbClr val="EEF2FB"/>
            </a:solidFill>
            <a:prstDash val="solid"/>
          </a:ln>
        </p:spPr>
      </p:sp>
      <p:sp>
        <p:nvSpPr>
          <p:cNvPr id="9" name="Text 6"/>
          <p:cNvSpPr txBox="1"/>
          <p:nvPr/>
        </p:nvSpPr>
        <p:spPr>
          <a:xfrm>
            <a:off x="5943600" y="2450592"/>
            <a:ext cx="2606040" cy="548640"/>
          </a:xfrm>
          <a:prstGeom prst="rect">
            <a:avLst/>
          </a:prstGeom>
          <a:noFill/>
          <a:ln/>
        </p:spPr>
        <p:txBody>
          <a:bodyPr wrap="square" lIns="0" tIns="0" rIns="0" bIns="0" rtlCol="0" anchor="ctr"/>
          <a:lstStyle/>
          <a:p>
            <a:pPr marL="0" indent="0">
              <a:buNone/>
            </a:pPr>
            <a:r>
              <a:rPr lang="en-US" sz="2400" b="1" dirty="0">
                <a:solidFill>
                  <a:srgbClr val="EB6834"/>
                </a:solidFill>
                <a:latin typeface="Cambria" pitchFamily="34" charset="0"/>
                <a:ea typeface="Cambria" pitchFamily="34" charset="-122"/>
                <a:cs typeface="Cambria" pitchFamily="34" charset="-120"/>
              </a:rPr>
              <a:t>-0.016 $</a:t>
            </a:r>
            <a:endParaRPr lang="en-US" sz="2400" dirty="0"/>
          </a:p>
        </p:txBody>
      </p:sp>
      <p:sp>
        <p:nvSpPr>
          <p:cNvPr id="10" name="Text 7"/>
          <p:cNvSpPr txBox="1"/>
          <p:nvPr/>
        </p:nvSpPr>
        <p:spPr>
          <a:xfrm>
            <a:off x="5943600" y="2980944"/>
            <a:ext cx="2606040" cy="411480"/>
          </a:xfrm>
          <a:prstGeom prst="rect">
            <a:avLst/>
          </a:prstGeom>
          <a:noFill/>
          <a:ln/>
        </p:spPr>
        <p:txBody>
          <a:bodyPr wrap="square" lIns="0" tIns="0" rIns="0" bIns="0" rtlCol="0" anchor="t"/>
          <a:lstStyle/>
          <a:p>
            <a:pPr marL="0" indent="0">
              <a:buNone/>
            </a:pPr>
            <a:r>
              <a:rPr lang="en-US" sz="1100" dirty="0">
                <a:solidFill>
                  <a:srgbClr val="5A5F6E"/>
                </a:solidFill>
                <a:latin typeface="Calibri" pitchFamily="34" charset="0"/>
                <a:ea typeface="Calibri" pitchFamily="34" charset="-122"/>
                <a:cs typeface="Calibri" pitchFamily="34" charset="-120"/>
              </a:rPr>
              <a:t>a = +0.02: SE 0.011; cap binds on 148 of 360 dates</a:t>
            </a:r>
            <a:endParaRPr lang="en-US" sz="1100" dirty="0"/>
          </a:p>
        </p:txBody>
      </p:sp>
      <p:sp>
        <p:nvSpPr>
          <p:cNvPr id="11" name="Text 8"/>
          <p:cNvSpPr txBox="1"/>
          <p:nvPr/>
        </p:nvSpPr>
        <p:spPr>
          <a:xfrm>
            <a:off x="5806440" y="3566160"/>
            <a:ext cx="2880360" cy="1143000"/>
          </a:xfrm>
          <a:prstGeom prst="rect">
            <a:avLst/>
          </a:prstGeom>
          <a:noFill/>
          <a:ln/>
        </p:spPr>
        <p:txBody>
          <a:bodyPr wrap="square" lIns="0" tIns="0" rIns="0" bIns="0" rtlCol="0" anchor="t"/>
          <a:lstStyle/>
          <a:p>
            <a:pPr marL="0" indent="0">
              <a:buNone/>
            </a:pPr>
            <a:r>
              <a:rPr lang="en-US" sz="1050" dirty="0">
                <a:solidFill>
                  <a:srgbClr val="5A5F6E"/>
                </a:solidFill>
                <a:latin typeface="Calibri" pitchFamily="34" charset="0"/>
                <a:ea typeface="Calibri" pitchFamily="34" charset="-122"/>
                <a:cs typeface="Calibri" pitchFamily="34" charset="-120"/>
              </a:rPr>
              <a:t>Only paths entering the shifted band change decision; the cap absorbs much of an upward shift (applied mean shift 0.013K). The NN overshoots just after d₁, so exercising earlier hurts and waiting slightly longer helps.</a:t>
            </a:r>
            <a:endParaRPr lang="en-US" sz="1050" dirty="0"/>
          </a:p>
        </p:txBody>
      </p:sp>
      <p:sp>
        <p:nvSpPr>
          <p:cNvPr id="12" name="Text 9"/>
          <p:cNvSpPr txBox="1"/>
          <p:nvPr/>
        </p:nvSpPr>
        <p:spPr>
          <a:xfrm>
            <a:off x="457200" y="4754880"/>
            <a:ext cx="8229600" cy="274320"/>
          </a:xfrm>
          <a:prstGeom prst="rect">
            <a:avLst/>
          </a:prstGeom>
          <a:noFill/>
          <a:ln/>
        </p:spPr>
        <p:txBody>
          <a:bodyPr wrap="square" lIns="0" tIns="0" rIns="0" bIns="0" rtlCol="0" anchor="ctr"/>
          <a:lstStyle/>
          <a:p>
            <a:pPr marL="0" indent="0">
              <a:buNone/>
            </a:pPr>
            <a:r>
              <a:rPr lang="en-US" sz="900" i="1" dirty="0">
                <a:solidFill>
                  <a:srgbClr val="5A5F6E"/>
                </a:solidFill>
                <a:latin typeface="Calibri" pitchFamily="34" charset="0"/>
                <a:ea typeface="Calibri" pitchFamily="34" charset="-122"/>
                <a:cs typeface="Calibri" pitchFamily="34" charset="-120"/>
              </a:rPr>
              <a:t>Dots: the assignment's shifts (95% paired intervals). Line and band: our finer supplementary sweep on the same 50,000 paths.</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761"/>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8046720" cy="64008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How accurately must the boundary be learned?</a:t>
            </a:r>
            <a:endParaRPr lang="en-US" sz="2800" dirty="0"/>
          </a:p>
        </p:txBody>
      </p:sp>
      <p:sp>
        <p:nvSpPr>
          <p:cNvPr id="3" name="Shape 1"/>
          <p:cNvSpPr/>
          <p:nvPr/>
        </p:nvSpPr>
        <p:spPr>
          <a:xfrm>
            <a:off x="548640" y="1325880"/>
            <a:ext cx="384048" cy="384048"/>
          </a:xfrm>
          <a:prstGeom prst="ellipse">
            <a:avLst/>
          </a:prstGeom>
          <a:solidFill>
            <a:srgbClr val="EB6834"/>
          </a:solidFill>
          <a:ln/>
        </p:spPr>
      </p:sp>
      <p:sp>
        <p:nvSpPr>
          <p:cNvPr id="4" name="Text 2"/>
          <p:cNvSpPr txBox="1"/>
          <p:nvPr/>
        </p:nvSpPr>
        <p:spPr>
          <a:xfrm>
            <a:off x="548640" y="132588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5" name="Text 3"/>
          <p:cNvSpPr txBox="1"/>
          <p:nvPr/>
        </p:nvSpPr>
        <p:spPr>
          <a:xfrm>
            <a:off x="1097280" y="1252728"/>
            <a:ext cx="7498080" cy="5943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Less than it looks  </a:t>
            </a:r>
            <a:r>
              <a:rPr lang="en-US" sz="1400" dirty="0">
                <a:solidFill>
                  <a:srgbClr val="CADCFC"/>
                </a:solidFill>
                <a:latin typeface="Calibri" pitchFamily="34" charset="0"/>
                <a:ea typeface="Calibri" pitchFamily="34" charset="-122"/>
                <a:cs typeface="Calibri" pitchFamily="34" charset="-120"/>
              </a:rPr>
              <a:t>2–7% mean boundary error costs cents to ~0.25 $: the value is flat near the optimal threshold (smooth pasting).</a:t>
            </a:r>
            <a:endParaRPr lang="en-US" sz="1400" dirty="0"/>
          </a:p>
        </p:txBody>
      </p:sp>
      <p:sp>
        <p:nvSpPr>
          <p:cNvPr id="6" name="Shape 4"/>
          <p:cNvSpPr/>
          <p:nvPr/>
        </p:nvSpPr>
        <p:spPr>
          <a:xfrm>
            <a:off x="548640" y="2057400"/>
            <a:ext cx="384048" cy="384048"/>
          </a:xfrm>
          <a:prstGeom prst="ellipse">
            <a:avLst/>
          </a:prstGeom>
          <a:solidFill>
            <a:srgbClr val="EB6834"/>
          </a:solidFill>
          <a:ln/>
        </p:spPr>
      </p:sp>
      <p:sp>
        <p:nvSpPr>
          <p:cNvPr id="7" name="Text 5"/>
          <p:cNvSpPr txBox="1"/>
          <p:nvPr/>
        </p:nvSpPr>
        <p:spPr>
          <a:xfrm>
            <a:off x="548640" y="205740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8" name="Text 6"/>
          <p:cNvSpPr txBox="1"/>
          <p:nvPr/>
        </p:nvSpPr>
        <p:spPr>
          <a:xfrm>
            <a:off x="1097280" y="1984248"/>
            <a:ext cx="7498080" cy="5943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Where paths decide  </a:t>
            </a:r>
            <a:r>
              <a:rPr lang="en-US" sz="1400" dirty="0">
                <a:solidFill>
                  <a:srgbClr val="CADCFC"/>
                </a:solidFill>
                <a:latin typeface="Calibri" pitchFamily="34" charset="0"/>
                <a:ea typeface="Calibri" pitchFamily="34" charset="-122"/>
                <a:cs typeface="Calibri" pitchFamily="34" charset="-120"/>
              </a:rPr>
              <a:t>errors matter where paths cross the boundary: the case-3 NN has the smaller max error but the larger price loss.</a:t>
            </a:r>
            <a:endParaRPr lang="en-US" sz="1400" dirty="0"/>
          </a:p>
        </p:txBody>
      </p:sp>
      <p:sp>
        <p:nvSpPr>
          <p:cNvPr id="9" name="Shape 7"/>
          <p:cNvSpPr/>
          <p:nvPr/>
        </p:nvSpPr>
        <p:spPr>
          <a:xfrm>
            <a:off x="548640" y="2788920"/>
            <a:ext cx="384048" cy="384048"/>
          </a:xfrm>
          <a:prstGeom prst="ellipse">
            <a:avLst/>
          </a:prstGeom>
          <a:solidFill>
            <a:srgbClr val="EB6834"/>
          </a:solidFill>
          <a:ln/>
        </p:spPr>
      </p:sp>
      <p:sp>
        <p:nvSpPr>
          <p:cNvPr id="10" name="Text 8"/>
          <p:cNvSpPr txBox="1"/>
          <p:nvPr/>
        </p:nvSpPr>
        <p:spPr>
          <a:xfrm>
            <a:off x="548640" y="278892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1" name="Text 9"/>
          <p:cNvSpPr txBox="1"/>
          <p:nvPr/>
        </p:nvSpPr>
        <p:spPr>
          <a:xfrm>
            <a:off x="1097280" y="2715768"/>
            <a:ext cx="7498080" cy="5943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Structure beats fitting  </a:t>
            </a:r>
            <a:r>
              <a:rPr lang="en-US" sz="1400" dirty="0">
                <a:solidFill>
                  <a:srgbClr val="CADCFC"/>
                </a:solidFill>
                <a:latin typeface="Calibri" pitchFamily="34" charset="0"/>
                <a:ea typeface="Calibri" pitchFamily="34" charset="-122"/>
                <a:cs typeface="Calibri" pitchFamily="34" charset="-120"/>
              </a:rPr>
              <a:t>the Part 1 cap gives the pre-dividend boundary exactly; both learners only fill in the rest.</a:t>
            </a:r>
            <a:endParaRPr lang="en-US" sz="1400" dirty="0"/>
          </a:p>
        </p:txBody>
      </p:sp>
      <p:sp>
        <p:nvSpPr>
          <p:cNvPr id="12" name="Shape 10"/>
          <p:cNvSpPr/>
          <p:nvPr/>
        </p:nvSpPr>
        <p:spPr>
          <a:xfrm>
            <a:off x="548640" y="3520440"/>
            <a:ext cx="384048" cy="384048"/>
          </a:xfrm>
          <a:prstGeom prst="ellipse">
            <a:avLst/>
          </a:prstGeom>
          <a:solidFill>
            <a:srgbClr val="EB6834"/>
          </a:solidFill>
          <a:ln/>
        </p:spPr>
      </p:sp>
      <p:sp>
        <p:nvSpPr>
          <p:cNvPr id="13" name="Text 11"/>
          <p:cNvSpPr txBox="1"/>
          <p:nvPr/>
        </p:nvSpPr>
        <p:spPr>
          <a:xfrm>
            <a:off x="548640" y="3520440"/>
            <a:ext cx="384048" cy="384048"/>
          </a:xfrm>
          <a:prstGeom prst="rect">
            <a:avLst/>
          </a:prstGeom>
          <a:noFill/>
          <a:ln/>
        </p:spPr>
        <p:txBody>
          <a:bodyPr wrap="square" lIns="0" tIns="0" rIns="0" bIns="0" rtlCol="0" anchor="ctr"/>
          <a:lstStyle/>
          <a:p>
            <a:pPr marL="0" indent="0" algn="ctr">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4" name="Text 12"/>
          <p:cNvSpPr txBox="1"/>
          <p:nvPr/>
        </p:nvSpPr>
        <p:spPr>
          <a:xfrm>
            <a:off x="1097280" y="3447288"/>
            <a:ext cx="7498080" cy="59436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Selection is noisy  </a:t>
            </a:r>
            <a:r>
              <a:rPr lang="en-US" sz="1400" dirty="0">
                <a:solidFill>
                  <a:srgbClr val="CADCFC"/>
                </a:solidFill>
                <a:latin typeface="Calibri" pitchFamily="34" charset="0"/>
                <a:ea typeface="Calibri" pitchFamily="34" charset="-122"/>
                <a:cs typeface="Calibri" pitchFamily="34" charset="-120"/>
              </a:rPr>
              <a:t>validation cannot separate checkpoints (all within ~2 SE); no fitted price exceeds the reference (max z = -0.37).</a:t>
            </a:r>
            <a:endParaRPr lang="en-US" sz="1400" dirty="0"/>
          </a:p>
        </p:txBody>
      </p:sp>
      <p:sp>
        <p:nvSpPr>
          <p:cNvPr id="15" name="Text 13"/>
          <p:cNvSpPr txBox="1"/>
          <p:nvPr/>
        </p:nvSpPr>
        <p:spPr>
          <a:xfrm>
            <a:off x="548640" y="4434840"/>
            <a:ext cx="8046720" cy="365760"/>
          </a:xfrm>
          <a:prstGeom prst="rect">
            <a:avLst/>
          </a:prstGeom>
          <a:noFill/>
          <a:ln/>
        </p:spPr>
        <p:txBody>
          <a:bodyPr wrap="square" lIns="0" tIns="0" rIns="0" bIns="0" rtlCol="0" anchor="ctr"/>
          <a:lstStyle/>
          <a:p>
            <a:pPr marL="0" indent="0">
              <a:buNone/>
            </a:pPr>
            <a:r>
              <a:rPr lang="en-US" sz="1100" i="1" dirty="0">
                <a:solidFill>
                  <a:srgbClr val="CADCFC"/>
                </a:solidFill>
                <a:latin typeface="Calibri" pitchFamily="34" charset="0"/>
                <a:ea typeface="Calibri" pitchFamily="34" charset="-122"/>
                <a:cs typeface="Calibri" pitchFamily="34" charset="-120"/>
              </a:rPr>
              <a:t>Reference: supplied reference_results.npz (--verify passed); draws follow the supplied README; our own solver agrees to ~1e-5 $.</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123</TotalTime>
  <Words>4069</Words>
  <Application>Microsoft Office PowerPoint</Application>
  <PresentationFormat>On-screen Show (16:9)</PresentationFormat>
  <Paragraphs>354</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Learning an American Put Exercise Boundary</dc:title>
  <dc:subject>PptxGenJS Presentation</dc:subject>
  <dc:creator>PptxGenJS</dc:creator>
  <cp:lastModifiedBy>Aditi Joshi</cp:lastModifiedBy>
  <cp:revision>2</cp:revision>
  <dcterms:created xsi:type="dcterms:W3CDTF">2026-09-28T13:58:21Z</dcterms:created>
  <dcterms:modified xsi:type="dcterms:W3CDTF">2026-09-28T19:39:23Z</dcterms:modified>
</cp:coreProperties>
</file>