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reference numbers come from the supplied reference_results.npz; all random draws follow the supplied README conventions. Our own grid solver is used for the Part 1 illustrations and as an independent cross-check.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use the risk-neutral measure. Calendar time runs right to left on every boundary plot because the horizontal axis is time remaining.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put, exercising just after the jump pays delta*s more with no time elapsed. For the call the intrinsic value falls at the jump, so the call must test exercise before applying the dividend.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Waiting until d+ and exercising gives V &gt;= K e^{-r eps} - (1-delta) s. For small s exercise at d+ is nearly certain, so the bound is attained: the boundary lies on the cap for about 0.13 years before each dividend.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stat shows why the proof fixes a common stopping time before comparing payoffs. The reference diagnostics are exact zeros; after d3 the two problems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refinement barely moves anything because the kernel integrates the lognormal step exactly. More exercise dates raise the value by ~1e-3 dollars and move the boundary by ~0.3 dollars, two orders of magnitude above the refinement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order and arithmetic follow the supplied README exactly, so the samples match the instructor run up to floating-point and library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clip upper bound is the most any continuation can be worth in time-zero dollars, since the next exercise is at t_{j+1} and pays at most K. Replaying the frozen rule reproduces the backward targets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Nearly every date has two positive-to-negative crossings. The rule defines a single interval containing all smaller prices, which is the correct economic shape even though the polynomial itself says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Becker et al. (2019): one network per date, stop/continue relaxed to a logistic probability, trained backward one date at a time to maximise expected reward; lower bound plus dual upper bound. Bühler et al. (2019): semi-recurrent networks for the hedging strategy, trained with Adam on simulated paths to minimise a convex risk measure (e.g. expected shortfall) under transaction costs. We train one threshold jointly over all dates for expected payoff.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means differ by less than about 1.3 paired standard errors, so selection is close to picking among equals. The value is flat near the optimal threshold, so validation barely reacts to boundary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NN smooths the LS noise and removes its downward spikes before dividends, but inherits LS's low level unless payoff training moves it (case 2 did, case 3 selected checkpoint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 supplies the known pre-dividend behaviour; the fitted functions only determine the shape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mean lies at or below the reference value, as it must: a frozen policy cannot beat the optimum. The perturbation study (a = ±0.02) is still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optimal boundary itself moves by only 0.26% of K between N = 180 and 360, far less than the fitted errors, so changes of a fitted policy with N are learning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280160"/>
            <a:ext cx="8046720" cy="10972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Learning an American Put Exercise Boundary</a:t>
            </a:r>
            <a:endParaRPr lang="en-US" sz="3800" dirty="0"/>
          </a:p>
        </p:txBody>
      </p:sp>
      <p:sp>
        <p:nvSpPr>
          <p:cNvPr id="3" name="Text 1"/>
          <p:cNvSpPr txBox="1"/>
          <p:nvPr/>
        </p:nvSpPr>
        <p:spPr>
          <a:xfrm>
            <a:off x="548640" y="24231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Numerical reference, Longstaff–Schwartz regression and neural exercise policies</a:t>
            </a:r>
            <a:endParaRPr lang="en-US" sz="1600" dirty="0"/>
          </a:p>
        </p:txBody>
      </p:sp>
      <p:sp>
        <p:nvSpPr>
          <p:cNvPr id="4" name="Text 2"/>
          <p:cNvSpPr txBox="1"/>
          <p:nvPr/>
        </p:nvSpPr>
        <p:spPr>
          <a:xfrm>
            <a:off x="548640" y="4114800"/>
            <a:ext cx="804672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Aditi Joshi, Helen Siavelis, Jaskaran Kalra, William McDonnell  ·  Baruch MFE, Scientific Computing in Finance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accurately must a boundary be learned?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Price an American put with three proportional dividends; compare a reference, LS and a neural policy</a:t>
            </a:r>
            <a:endParaRPr lang="en-US" sz="1300" dirty="0"/>
          </a:p>
        </p:txBody>
      </p:sp>
      <p:sp>
        <p:nvSpPr>
          <p:cNvPr id="4" name="Shape 2"/>
          <p:cNvSpPr/>
          <p:nvPr/>
        </p:nvSpPr>
        <p:spPr>
          <a:xfrm>
            <a:off x="457200" y="1325880"/>
            <a:ext cx="2606040" cy="1051560"/>
          </a:xfrm>
          <a:prstGeom prst="roundRect">
            <a:avLst>
              <a:gd name="adj" fmla="val 6957"/>
            </a:avLst>
          </a:prstGeom>
          <a:solidFill>
            <a:srgbClr val="EEF2FB"/>
          </a:solidFill>
          <a:ln w="12700">
            <a:solidFill>
              <a:srgbClr val="EEF2FB"/>
            </a:solidFill>
            <a:prstDash val="solid"/>
          </a:ln>
        </p:spPr>
      </p:sp>
      <p:sp>
        <p:nvSpPr>
          <p:cNvPr id="5" name="Text 3"/>
          <p:cNvSpPr txBox="1"/>
          <p:nvPr/>
        </p:nvSpPr>
        <p:spPr>
          <a:xfrm>
            <a:off x="594360" y="1399032"/>
            <a:ext cx="23317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K = 100</a:t>
            </a:r>
            <a:endParaRPr lang="en-US" sz="2800" dirty="0"/>
          </a:p>
        </p:txBody>
      </p:sp>
      <p:sp>
        <p:nvSpPr>
          <p:cNvPr id="6" name="Text 4"/>
          <p:cNvSpPr txBox="1"/>
          <p:nvPr/>
        </p:nvSpPr>
        <p:spPr>
          <a:xfrm>
            <a:off x="594360" y="1929384"/>
            <a:ext cx="23317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strike</a:t>
            </a:r>
            <a:endParaRPr lang="en-US" sz="1100" dirty="0"/>
          </a:p>
        </p:txBody>
      </p:sp>
      <p:sp>
        <p:nvSpPr>
          <p:cNvPr id="7" name="Shape 5"/>
          <p:cNvSpPr/>
          <p:nvPr/>
        </p:nvSpPr>
        <p:spPr>
          <a:xfrm>
            <a:off x="3246120" y="1325880"/>
            <a:ext cx="2606040" cy="1051560"/>
          </a:xfrm>
          <a:prstGeom prst="roundRect">
            <a:avLst>
              <a:gd name="adj" fmla="val 6957"/>
            </a:avLst>
          </a:prstGeom>
          <a:solidFill>
            <a:srgbClr val="EEF2FB"/>
          </a:solidFill>
          <a:ln w="12700">
            <a:solidFill>
              <a:srgbClr val="EEF2FB"/>
            </a:solidFill>
            <a:prstDash val="solid"/>
          </a:ln>
        </p:spPr>
      </p:sp>
      <p:sp>
        <p:nvSpPr>
          <p:cNvPr id="8" name="Text 6"/>
          <p:cNvSpPr txBox="1"/>
          <p:nvPr/>
        </p:nvSpPr>
        <p:spPr>
          <a:xfrm>
            <a:off x="3383280" y="1399032"/>
            <a:ext cx="23317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T = 3/4</a:t>
            </a:r>
            <a:endParaRPr lang="en-US" sz="2800" dirty="0"/>
          </a:p>
        </p:txBody>
      </p:sp>
      <p:sp>
        <p:nvSpPr>
          <p:cNvPr id="9" name="Text 7"/>
          <p:cNvSpPr txBox="1"/>
          <p:nvPr/>
        </p:nvSpPr>
        <p:spPr>
          <a:xfrm>
            <a:off x="3383280" y="1929384"/>
            <a:ext cx="23317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years to maturity</a:t>
            </a:r>
            <a:endParaRPr lang="en-US" sz="1100" dirty="0"/>
          </a:p>
        </p:txBody>
      </p:sp>
      <p:sp>
        <p:nvSpPr>
          <p:cNvPr id="10" name="Shape 8"/>
          <p:cNvSpPr/>
          <p:nvPr/>
        </p:nvSpPr>
        <p:spPr>
          <a:xfrm>
            <a:off x="6035040" y="1325880"/>
            <a:ext cx="2606040" cy="1051560"/>
          </a:xfrm>
          <a:prstGeom prst="roundRect">
            <a:avLst>
              <a:gd name="adj" fmla="val 6957"/>
            </a:avLst>
          </a:prstGeom>
          <a:solidFill>
            <a:srgbClr val="EEF2FB"/>
          </a:solidFill>
          <a:ln w="12700">
            <a:solidFill>
              <a:srgbClr val="EEF2FB"/>
            </a:solidFill>
            <a:prstDash val="solid"/>
          </a:ln>
        </p:spPr>
      </p:sp>
      <p:sp>
        <p:nvSpPr>
          <p:cNvPr id="11" name="Text 9"/>
          <p:cNvSpPr txBox="1"/>
          <p:nvPr/>
        </p:nvSpPr>
        <p:spPr>
          <a:xfrm>
            <a:off x="6172200" y="1399032"/>
            <a:ext cx="23317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r = log 1.05</a:t>
            </a:r>
            <a:endParaRPr lang="en-US" sz="2800" dirty="0"/>
          </a:p>
        </p:txBody>
      </p:sp>
      <p:sp>
        <p:nvSpPr>
          <p:cNvPr id="12" name="Text 10"/>
          <p:cNvSpPr txBox="1"/>
          <p:nvPr/>
        </p:nvSpPr>
        <p:spPr>
          <a:xfrm>
            <a:off x="6172200" y="1929384"/>
            <a:ext cx="23317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continuous rate</a:t>
            </a:r>
            <a:endParaRPr lang="en-US" sz="1100" dirty="0"/>
          </a:p>
        </p:txBody>
      </p:sp>
      <p:sp>
        <p:nvSpPr>
          <p:cNvPr id="13" name="Shape 11"/>
          <p:cNvSpPr/>
          <p:nvPr/>
        </p:nvSpPr>
        <p:spPr>
          <a:xfrm>
            <a:off x="457200" y="2560320"/>
            <a:ext cx="2606040" cy="1051560"/>
          </a:xfrm>
          <a:prstGeom prst="roundRect">
            <a:avLst>
              <a:gd name="adj" fmla="val 6957"/>
            </a:avLst>
          </a:prstGeom>
          <a:solidFill>
            <a:srgbClr val="EEF2FB"/>
          </a:solidFill>
          <a:ln w="12700">
            <a:solidFill>
              <a:srgbClr val="EEF2FB"/>
            </a:solidFill>
            <a:prstDash val="solid"/>
          </a:ln>
        </p:spPr>
      </p:sp>
      <p:sp>
        <p:nvSpPr>
          <p:cNvPr id="14" name="Text 12"/>
          <p:cNvSpPr txBox="1"/>
          <p:nvPr/>
        </p:nvSpPr>
        <p:spPr>
          <a:xfrm>
            <a:off x="594360" y="2633472"/>
            <a:ext cx="23317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σ = 0.30</a:t>
            </a:r>
            <a:endParaRPr lang="en-US" sz="2800" dirty="0"/>
          </a:p>
        </p:txBody>
      </p:sp>
      <p:sp>
        <p:nvSpPr>
          <p:cNvPr id="15" name="Text 13"/>
          <p:cNvSpPr txBox="1"/>
          <p:nvPr/>
        </p:nvSpPr>
        <p:spPr>
          <a:xfrm>
            <a:off x="594360" y="3163824"/>
            <a:ext cx="23317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volatility</a:t>
            </a:r>
            <a:endParaRPr lang="en-US" sz="1100" dirty="0"/>
          </a:p>
        </p:txBody>
      </p:sp>
      <p:sp>
        <p:nvSpPr>
          <p:cNvPr id="16" name="Shape 14"/>
          <p:cNvSpPr/>
          <p:nvPr/>
        </p:nvSpPr>
        <p:spPr>
          <a:xfrm>
            <a:off x="3246120" y="2560320"/>
            <a:ext cx="2606040" cy="1051560"/>
          </a:xfrm>
          <a:prstGeom prst="roundRect">
            <a:avLst>
              <a:gd name="adj" fmla="val 6957"/>
            </a:avLst>
          </a:prstGeom>
          <a:solidFill>
            <a:srgbClr val="EEF2FB"/>
          </a:solidFill>
          <a:ln w="12700">
            <a:solidFill>
              <a:srgbClr val="EEF2FB"/>
            </a:solidFill>
            <a:prstDash val="solid"/>
          </a:ln>
        </p:spPr>
      </p:sp>
      <p:sp>
        <p:nvSpPr>
          <p:cNvPr id="17" name="Text 15"/>
          <p:cNvSpPr txBox="1"/>
          <p:nvPr/>
        </p:nvSpPr>
        <p:spPr>
          <a:xfrm>
            <a:off x="3383280" y="2633472"/>
            <a:ext cx="23317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δ ∈ {0, 1.25%}</a:t>
            </a:r>
            <a:endParaRPr lang="en-US" sz="2800" dirty="0"/>
          </a:p>
        </p:txBody>
      </p:sp>
      <p:sp>
        <p:nvSpPr>
          <p:cNvPr id="18" name="Text 16"/>
          <p:cNvSpPr txBox="1"/>
          <p:nvPr/>
        </p:nvSpPr>
        <p:spPr>
          <a:xfrm>
            <a:off x="3383280" y="3163824"/>
            <a:ext cx="23317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dividend fraction</a:t>
            </a:r>
            <a:endParaRPr lang="en-US" sz="1100" dirty="0"/>
          </a:p>
        </p:txBody>
      </p:sp>
      <p:sp>
        <p:nvSpPr>
          <p:cNvPr id="19" name="Shape 17"/>
          <p:cNvSpPr/>
          <p:nvPr/>
        </p:nvSpPr>
        <p:spPr>
          <a:xfrm>
            <a:off x="6035040" y="2560320"/>
            <a:ext cx="2606040" cy="1051560"/>
          </a:xfrm>
          <a:prstGeom prst="roundRect">
            <a:avLst>
              <a:gd name="adj" fmla="val 6957"/>
            </a:avLst>
          </a:prstGeom>
          <a:solidFill>
            <a:srgbClr val="EEF2FB"/>
          </a:solidFill>
          <a:ln w="12700">
            <a:solidFill>
              <a:srgbClr val="EEF2FB"/>
            </a:solidFill>
            <a:prstDash val="solid"/>
          </a:ln>
        </p:spPr>
      </p:sp>
      <p:sp>
        <p:nvSpPr>
          <p:cNvPr id="20" name="Text 18"/>
          <p:cNvSpPr txBox="1"/>
          <p:nvPr/>
        </p:nvSpPr>
        <p:spPr>
          <a:xfrm>
            <a:off x="6172200" y="2633472"/>
            <a:ext cx="23317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N ∈ {180, 360}</a:t>
            </a:r>
            <a:endParaRPr lang="en-US" sz="2800" dirty="0"/>
          </a:p>
        </p:txBody>
      </p:sp>
      <p:sp>
        <p:nvSpPr>
          <p:cNvPr id="21" name="Text 19"/>
          <p:cNvSpPr txBox="1"/>
          <p:nvPr/>
        </p:nvSpPr>
        <p:spPr>
          <a:xfrm>
            <a:off x="6172200" y="3163824"/>
            <a:ext cx="23317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exercise intervals</a:t>
            </a:r>
            <a:endParaRPr lang="en-US" sz="1100" dirty="0"/>
          </a:p>
        </p:txBody>
      </p:sp>
      <p:sp>
        <p:nvSpPr>
          <p:cNvPr id="22" name="Text 20"/>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300" dirty="0">
                <a:solidFill>
                  <a:srgbClr val="1B1B1B"/>
                </a:solidFill>
                <a:latin typeface="Calibri" pitchFamily="34" charset="0"/>
                <a:ea typeface="Calibri" pitchFamily="34" charset="-122"/>
                <a:cs typeface="Calibri" pitchFamily="34" charset="-120"/>
              </a:rPr>
              <a:t>Dividends at d = 5/24, 11/24, 17/24 (plot markers u = T − t = 13/24, 7/24, 1/24). Jump S → (1−δ)S, then exercise decision.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Put: jump first. Call: decide first.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Part 1, items 1 and 4 — which side of the dividend to exercise on</a:t>
            </a:r>
            <a:endParaRPr lang="en-US" sz="1300" dirty="0"/>
          </a:p>
        </p:txBody>
      </p:sp>
      <p:pic>
        <p:nvPicPr>
          <p:cNvPr id="4" name="Image 0" descr="figures/p1_pre_jump.png">    </p:cNvPr>
          <p:cNvPicPr>
            <a:picLocks noChangeAspect="1"/>
          </p:cNvPicPr>
          <p:nvPr/>
        </p:nvPicPr>
        <p:blipFill>
          <a:blip r:embed="rId1"/>
          <a:stretch>
            <a:fillRect/>
          </a:stretch>
        </p:blipFill>
        <p:spPr>
          <a:xfrm>
            <a:off x="457200" y="1234440"/>
            <a:ext cx="5394960" cy="1978152"/>
          </a:xfrm>
          <a:prstGeom prst="rect">
            <a:avLst/>
          </a:prstGeom>
        </p:spPr>
      </p:pic>
      <p:sp>
        <p:nvSpPr>
          <p:cNvPr id="5" name="Text 2"/>
          <p:cNvSpPr txBox="1"/>
          <p:nvPr/>
        </p:nvSpPr>
        <p:spPr>
          <a:xfrm>
            <a:off x="6035040" y="1234440"/>
            <a:ext cx="2697480" cy="329184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B1B1B"/>
                </a:solidFill>
                <a:latin typeface="Calibri" pitchFamily="34" charset="0"/>
                <a:ea typeface="Calibri" pitchFamily="34" charset="-122"/>
                <a:cs typeface="Calibri" pitchFamily="34" charset="-120"/>
              </a:rPr>
              <a:t>Put: V(d⁻, s) = V(d⁺, (1−δ)s) ≥ (K − s) + δs, so pre-jump exercise is never optimal.</a:t>
            </a:r>
            <a:endParaRPr lang="en-US" sz="1200" dirty="0"/>
          </a:p>
          <a:p>
            <a:pPr marL="342900" indent="-342900">
              <a:spcAft>
                <a:spcPts val="600"/>
              </a:spcAft>
              <a:buSzPct val="100000"/>
              <a:buChar char="•"/>
            </a:pPr>
            <a:r>
              <a:rPr lang="en-US" sz="1200" dirty="0">
                <a:solidFill>
                  <a:srgbClr val="1B1B1B"/>
                </a:solidFill>
                <a:latin typeface="Calibri" pitchFamily="34" charset="0"/>
                <a:ea typeface="Calibri" pitchFamily="34" charset="-122"/>
                <a:cs typeface="Calibri" pitchFamily="34" charset="-120"/>
              </a:rPr>
              <a:t>Call: C(d⁻, s) = max{(s−K)⁺, C(d⁺, (1−δ)s)}; the max binds above s* (104.8 before d₃).</a:t>
            </a:r>
            <a:endParaRPr lang="en-US" sz="1200" dirty="0"/>
          </a:p>
          <a:p>
            <a:pPr marL="342900" indent="-342900">
              <a:spcAft>
                <a:spcPts val="600"/>
              </a:spcAft>
              <a:buSzPct val="100000"/>
              <a:buChar char="•"/>
            </a:pPr>
            <a:r>
              <a:rPr lang="en-US" sz="1200" dirty="0">
                <a:solidFill>
                  <a:srgbClr val="1B1B1B"/>
                </a:solidFill>
                <a:latin typeface="Calibri" pitchFamily="34" charset="0"/>
                <a:ea typeface="Calibri" pitchFamily="34" charset="-122"/>
                <a:cs typeface="Calibri" pitchFamily="34" charset="-120"/>
              </a:rPr>
              <a:t>Call value at S₀=100: correct 10.4198, put-style ordering 10.4029, European 9.9037.</a:t>
            </a:r>
            <a:endParaRPr lang="en-US" sz="1200" dirty="0"/>
          </a:p>
        </p:txBody>
      </p:sp>
      <p:sp>
        <p:nvSpPr>
          <p:cNvPr id="6" name="Text 3"/>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i="1" dirty="0">
                <a:solidFill>
                  <a:srgbClr val="5A5F6E"/>
                </a:solidFill>
                <a:latin typeface="Calibri" pitchFamily="34" charset="0"/>
                <a:ea typeface="Calibri" pitchFamily="34" charset="-122"/>
                <a:cs typeface="Calibri" pitchFamily="34" charset="-120"/>
              </a:rPr>
              <a:t>Our own grid solver (Part 1 illustration), N = 180, δ = 0.0125. The put-style call exercises one grid step early and loses interest K(1 − e^(−rh)).</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Near a dividend, the boundary rides the cap</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Part 1, item 2 — b(d − ε) ≤ K(1 − e^(−rε)) / δ → 0</a:t>
            </a:r>
            <a:endParaRPr lang="en-US" sz="1300" dirty="0"/>
          </a:p>
        </p:txBody>
      </p:sp>
      <p:pic>
        <p:nvPicPr>
          <p:cNvPr id="4" name="Image 0" descr="figures/p1_cap_zoom.png">    </p:cNvPr>
          <p:cNvPicPr>
            <a:picLocks noChangeAspect="1"/>
          </p:cNvPicPr>
          <p:nvPr/>
        </p:nvPicPr>
        <p:blipFill>
          <a:blip r:embed="rId1"/>
          <a:stretch>
            <a:fillRect/>
          </a:stretch>
        </p:blipFill>
        <p:spPr>
          <a:xfrm>
            <a:off x="457200" y="1234440"/>
            <a:ext cx="8229600" cy="2715768"/>
          </a:xfrm>
          <a:prstGeom prst="rect">
            <a:avLst/>
          </a:prstGeom>
        </p:spPr>
      </p:pic>
      <p:sp>
        <p:nvSpPr>
          <p:cNvPr id="5" name="Shape 2"/>
          <p:cNvSpPr/>
          <p:nvPr/>
        </p:nvSpPr>
        <p:spPr>
          <a:xfrm>
            <a:off x="457200" y="3703320"/>
            <a:ext cx="2651760" cy="1051560"/>
          </a:xfrm>
          <a:prstGeom prst="roundRect">
            <a:avLst>
              <a:gd name="adj" fmla="val 6957"/>
            </a:avLst>
          </a:prstGeom>
          <a:solidFill>
            <a:srgbClr val="EEF2FB"/>
          </a:solidFill>
          <a:ln w="12700">
            <a:solidFill>
              <a:srgbClr val="EEF2FB"/>
            </a:solidFill>
            <a:prstDash val="solid"/>
          </a:ln>
        </p:spPr>
      </p:sp>
      <p:sp>
        <p:nvSpPr>
          <p:cNvPr id="6" name="Text 3"/>
          <p:cNvSpPr txBox="1"/>
          <p:nvPr/>
        </p:nvSpPr>
        <p:spPr>
          <a:xfrm>
            <a:off x="594360" y="3776472"/>
            <a:ext cx="2377440" cy="54864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 3.9 K / yr</a:t>
            </a:r>
            <a:endParaRPr lang="en-US" sz="2800" dirty="0"/>
          </a:p>
        </p:txBody>
      </p:sp>
      <p:sp>
        <p:nvSpPr>
          <p:cNvPr id="7" name="Text 4"/>
          <p:cNvSpPr txBox="1"/>
          <p:nvPr/>
        </p:nvSpPr>
        <p:spPr>
          <a:xfrm>
            <a:off x="594360" y="4306824"/>
            <a:ext cx="237744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slope rK/δ of the straight segments in Cox–Rubinstein's figure</a:t>
            </a:r>
            <a:endParaRPr lang="en-US" sz="1100" dirty="0"/>
          </a:p>
        </p:txBody>
      </p:sp>
      <p:sp>
        <p:nvSpPr>
          <p:cNvPr id="8" name="Shape 5"/>
          <p:cNvSpPr/>
          <p:nvPr/>
        </p:nvSpPr>
        <p:spPr>
          <a:xfrm>
            <a:off x="3246120" y="3703320"/>
            <a:ext cx="2651760" cy="1051560"/>
          </a:xfrm>
          <a:prstGeom prst="roundRect">
            <a:avLst>
              <a:gd name="adj" fmla="val 6957"/>
            </a:avLst>
          </a:prstGeom>
          <a:solidFill>
            <a:srgbClr val="EEF2FB"/>
          </a:solidFill>
          <a:ln w="12700">
            <a:solidFill>
              <a:srgbClr val="EEF2FB"/>
            </a:solidFill>
            <a:prstDash val="solid"/>
          </a:ln>
        </p:spPr>
      </p:sp>
      <p:sp>
        <p:nvSpPr>
          <p:cNvPr id="9" name="Text 6"/>
          <p:cNvSpPr txBox="1"/>
          <p:nvPr/>
        </p:nvSpPr>
        <p:spPr>
          <a:xfrm>
            <a:off x="3383280" y="3776472"/>
            <a:ext cx="237744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1.63 → 0.81</a:t>
            </a:r>
            <a:endParaRPr lang="en-US" sz="2800" dirty="0"/>
          </a:p>
        </p:txBody>
      </p:sp>
      <p:sp>
        <p:nvSpPr>
          <p:cNvPr id="10" name="Text 7"/>
          <p:cNvSpPr txBox="1"/>
          <p:nvPr/>
        </p:nvSpPr>
        <p:spPr>
          <a:xfrm>
            <a:off x="3383280" y="4306824"/>
            <a:ext cx="237744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one-step cap K(1−e^(−rh))/δ, N = 180 → 360: positive, → 0 with h</a:t>
            </a:r>
            <a:endParaRPr lang="en-US" sz="1100" dirty="0"/>
          </a:p>
        </p:txBody>
      </p:sp>
      <p:sp>
        <p:nvSpPr>
          <p:cNvPr id="11" name="Shape 8"/>
          <p:cNvSpPr/>
          <p:nvPr/>
        </p:nvSpPr>
        <p:spPr>
          <a:xfrm>
            <a:off x="6035040" y="3703320"/>
            <a:ext cx="2651760" cy="1051560"/>
          </a:xfrm>
          <a:prstGeom prst="roundRect">
            <a:avLst>
              <a:gd name="adj" fmla="val 6957"/>
            </a:avLst>
          </a:prstGeom>
          <a:solidFill>
            <a:srgbClr val="EEF2FB"/>
          </a:solidFill>
          <a:ln w="12700">
            <a:solidFill>
              <a:srgbClr val="EEF2FB"/>
            </a:solidFill>
            <a:prstDash val="solid"/>
          </a:ln>
        </p:spPr>
      </p:sp>
      <p:sp>
        <p:nvSpPr>
          <p:cNvPr id="12" name="Text 9"/>
          <p:cNvSpPr txBox="1"/>
          <p:nvPr/>
        </p:nvSpPr>
        <p:spPr>
          <a:xfrm>
            <a:off x="6172200" y="3776472"/>
            <a:ext cx="2377440" cy="54864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0.69, 0.75, 0.89 K</a:t>
            </a:r>
            <a:endParaRPr lang="en-US" sz="2200" dirty="0"/>
          </a:p>
        </p:txBody>
      </p:sp>
      <p:sp>
        <p:nvSpPr>
          <p:cNvPr id="13" name="Text 10"/>
          <p:cNvSpPr txBox="1"/>
          <p:nvPr/>
        </p:nvSpPr>
        <p:spPr>
          <a:xfrm>
            <a:off x="6172200" y="4306824"/>
            <a:ext cx="237744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b just after d₁, d₂, d₃: the upward jump in calendar time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Dividends can only help the put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Part 1, item 3 — V₀.₀₁₂₅ ≥ V₀ and b₀.₀₁₂₅ ≤ b₀, equal after d₃</a:t>
            </a:r>
            <a:endParaRPr lang="en-US" sz="1300" dirty="0"/>
          </a:p>
        </p:txBody>
      </p:sp>
      <p:sp>
        <p:nvSpPr>
          <p:cNvPr id="4" name="Shape 2"/>
          <p:cNvSpPr/>
          <p:nvPr/>
        </p:nvSpPr>
        <p:spPr>
          <a:xfrm>
            <a:off x="457200" y="1280160"/>
            <a:ext cx="384048" cy="384048"/>
          </a:xfrm>
          <a:prstGeom prst="ellipse">
            <a:avLst/>
          </a:prstGeom>
          <a:solidFill>
            <a:srgbClr val="1E2761"/>
          </a:solidFill>
          <a:ln/>
        </p:spPr>
      </p:sp>
      <p:sp>
        <p:nvSpPr>
          <p:cNvPr id="5"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234440"/>
            <a:ext cx="4206240" cy="502920"/>
          </a:xfrm>
          <a:prstGeom prst="rect">
            <a:avLst/>
          </a:prstGeom>
          <a:noFill/>
          <a:ln/>
        </p:spPr>
        <p:txBody>
          <a:bodyPr wrap="square" lIns="0" tIns="0" rIns="0" bIns="0" rtlCol="0" anchor="ctr"/>
          <a:lstStyle/>
          <a:p>
            <a:pPr indent="0" marL="0">
              <a:buNone/>
            </a:pPr>
            <a:r>
              <a:rPr lang="en-US" sz="1300" dirty="0">
                <a:solidFill>
                  <a:srgbClr val="1B1B1B"/>
                </a:solidFill>
                <a:latin typeface="Calibri" pitchFamily="34" charset="0"/>
                <a:ea typeface="Calibri" pitchFamily="34" charset="-122"/>
                <a:cs typeface="Calibri" pitchFamily="34" charset="-120"/>
              </a:rPr>
              <a:t>Couple: same Brownian increments, S^δ = S⁰(1−δ)^n ≤ S⁰</a:t>
            </a:r>
            <a:endParaRPr lang="en-US" sz="1300" dirty="0"/>
          </a:p>
        </p:txBody>
      </p:sp>
      <p:sp>
        <p:nvSpPr>
          <p:cNvPr id="7" name="Shape 5"/>
          <p:cNvSpPr/>
          <p:nvPr/>
        </p:nvSpPr>
        <p:spPr>
          <a:xfrm>
            <a:off x="457200" y="2011680"/>
            <a:ext cx="384048" cy="384048"/>
          </a:xfrm>
          <a:prstGeom prst="ellipse">
            <a:avLst/>
          </a:prstGeom>
          <a:solidFill>
            <a:srgbClr val="1E2761"/>
          </a:solidFill>
          <a:ln/>
        </p:spPr>
      </p:sp>
      <p:sp>
        <p:nvSpPr>
          <p:cNvPr id="8" name="Text 6"/>
          <p:cNvSpPr txBox="1"/>
          <p:nvPr/>
        </p:nvSpPr>
        <p:spPr>
          <a:xfrm>
            <a:off x="457200" y="2011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965960"/>
            <a:ext cx="4206240" cy="502920"/>
          </a:xfrm>
          <a:prstGeom prst="rect">
            <a:avLst/>
          </a:prstGeom>
          <a:noFill/>
          <a:ln/>
        </p:spPr>
        <p:txBody>
          <a:bodyPr wrap="square" lIns="0" tIns="0" rIns="0" bIns="0" rtlCol="0" anchor="ctr"/>
          <a:lstStyle/>
          <a:p>
            <a:pPr indent="0" marL="0">
              <a:buNone/>
            </a:pPr>
            <a:r>
              <a:rPr lang="en-US" sz="1300" dirty="0">
                <a:solidFill>
                  <a:srgbClr val="1B1B1B"/>
                </a:solidFill>
                <a:latin typeface="Calibri" pitchFamily="34" charset="0"/>
                <a:ea typeface="Calibri" pitchFamily="34" charset="-122"/>
                <a:cs typeface="Calibri" pitchFamily="34" charset="-120"/>
              </a:rPr>
              <a:t>Common stopping time τ ⇒ (K − S^δ_τ)⁺ ≥ (K − S⁰_τ)⁺ on every path</a:t>
            </a:r>
            <a:endParaRPr lang="en-US" sz="1300" dirty="0"/>
          </a:p>
        </p:txBody>
      </p:sp>
      <p:sp>
        <p:nvSpPr>
          <p:cNvPr id="10" name="Shape 8"/>
          <p:cNvSpPr/>
          <p:nvPr/>
        </p:nvSpPr>
        <p:spPr>
          <a:xfrm>
            <a:off x="457200" y="2743200"/>
            <a:ext cx="384048" cy="384048"/>
          </a:xfrm>
          <a:prstGeom prst="ellipse">
            <a:avLst/>
          </a:prstGeom>
          <a:solidFill>
            <a:srgbClr val="1E2761"/>
          </a:solidFill>
          <a:ln/>
        </p:spPr>
      </p:sp>
      <p:sp>
        <p:nvSpPr>
          <p:cNvPr id="11" name="Text 9"/>
          <p:cNvSpPr txBox="1"/>
          <p:nvPr/>
        </p:nvSpPr>
        <p:spPr>
          <a:xfrm>
            <a:off x="457200" y="2743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697480"/>
            <a:ext cx="4206240" cy="502920"/>
          </a:xfrm>
          <a:prstGeom prst="rect">
            <a:avLst/>
          </a:prstGeom>
          <a:noFill/>
          <a:ln/>
        </p:spPr>
        <p:txBody>
          <a:bodyPr wrap="square" lIns="0" tIns="0" rIns="0" bIns="0" rtlCol="0" anchor="ctr"/>
          <a:lstStyle/>
          <a:p>
            <a:pPr indent="0" marL="0">
              <a:buNone/>
            </a:pPr>
            <a:r>
              <a:rPr lang="en-US" sz="1300" dirty="0">
                <a:solidFill>
                  <a:srgbClr val="1B1B1B"/>
                </a:solidFill>
                <a:latin typeface="Calibri" pitchFamily="34" charset="0"/>
                <a:ea typeface="Calibri" pitchFamily="34" charset="-122"/>
                <a:cs typeface="Calibri" pitchFamily="34" charset="-120"/>
              </a:rPr>
              <a:t>Take expectations, then sup over τ ⇒ V_δ ≥ V₀</a:t>
            </a:r>
            <a:endParaRPr lang="en-US" sz="1300" dirty="0"/>
          </a:p>
        </p:txBody>
      </p:sp>
      <p:sp>
        <p:nvSpPr>
          <p:cNvPr id="13" name="Shape 11"/>
          <p:cNvSpPr/>
          <p:nvPr/>
        </p:nvSpPr>
        <p:spPr>
          <a:xfrm>
            <a:off x="457200" y="3474720"/>
            <a:ext cx="384048" cy="384048"/>
          </a:xfrm>
          <a:prstGeom prst="ellipse">
            <a:avLst/>
          </a:prstGeom>
          <a:solidFill>
            <a:srgbClr val="1E2761"/>
          </a:solidFill>
          <a:ln/>
        </p:spPr>
      </p:sp>
      <p:sp>
        <p:nvSpPr>
          <p:cNvPr id="14" name="Text 12"/>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3429000"/>
            <a:ext cx="4206240" cy="502920"/>
          </a:xfrm>
          <a:prstGeom prst="rect">
            <a:avLst/>
          </a:prstGeom>
          <a:noFill/>
          <a:ln/>
        </p:spPr>
        <p:txBody>
          <a:bodyPr wrap="square" lIns="0" tIns="0" rIns="0" bIns="0" rtlCol="0" anchor="ctr"/>
          <a:lstStyle/>
          <a:p>
            <a:pPr indent="0" marL="0">
              <a:buNone/>
            </a:pPr>
            <a:r>
              <a:rPr lang="en-US" sz="1300" dirty="0">
                <a:solidFill>
                  <a:srgbClr val="1B1B1B"/>
                </a:solidFill>
                <a:latin typeface="Calibri" pitchFamily="34" charset="0"/>
                <a:ea typeface="Calibri" pitchFamily="34" charset="-122"/>
                <a:cs typeface="Calibri" pitchFamily="34" charset="-120"/>
              </a:rPr>
              <a:t>V_δ = K − s ⇒ V₀ = K − s: exercise regions nested ⇒ b_δ ≤ b₀</a:t>
            </a:r>
            <a:endParaRPr lang="en-US" sz="1300" dirty="0"/>
          </a:p>
        </p:txBody>
      </p:sp>
      <p:sp>
        <p:nvSpPr>
          <p:cNvPr id="16" name="Shape 14"/>
          <p:cNvSpPr/>
          <p:nvPr/>
        </p:nvSpPr>
        <p:spPr>
          <a:xfrm>
            <a:off x="5486400" y="1234440"/>
            <a:ext cx="3200400" cy="1051560"/>
          </a:xfrm>
          <a:prstGeom prst="roundRect">
            <a:avLst>
              <a:gd name="adj" fmla="val 6957"/>
            </a:avLst>
          </a:prstGeom>
          <a:solidFill>
            <a:srgbClr val="EEF2FB"/>
          </a:solidFill>
          <a:ln w="12700">
            <a:solidFill>
              <a:srgbClr val="EEF2FB"/>
            </a:solidFill>
            <a:prstDash val="solid"/>
          </a:ln>
        </p:spPr>
      </p:sp>
      <p:sp>
        <p:nvSpPr>
          <p:cNvPr id="17" name="Text 15"/>
          <p:cNvSpPr txBox="1"/>
          <p:nvPr/>
        </p:nvSpPr>
        <p:spPr>
          <a:xfrm>
            <a:off x="5623560" y="1307592"/>
            <a:ext cx="2926080" cy="54864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0 %</a:t>
            </a:r>
            <a:endParaRPr lang="en-US" sz="2800" dirty="0"/>
          </a:p>
        </p:txBody>
      </p:sp>
      <p:sp>
        <p:nvSpPr>
          <p:cNvPr id="18" name="Text 16"/>
          <p:cNvSpPr txBox="1"/>
          <p:nvPr/>
        </p:nvSpPr>
        <p:spPr>
          <a:xfrm>
            <a:off x="5623560" y="1837944"/>
            <a:ext cx="292608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paths with Q_δ &lt; Q₀ under one common τ (coupled MC, 20,000 paths)</a:t>
            </a:r>
            <a:endParaRPr lang="en-US" sz="1100" dirty="0"/>
          </a:p>
        </p:txBody>
      </p:sp>
      <p:sp>
        <p:nvSpPr>
          <p:cNvPr id="19" name="Shape 17"/>
          <p:cNvSpPr/>
          <p:nvPr/>
        </p:nvSpPr>
        <p:spPr>
          <a:xfrm>
            <a:off x="5486400" y="2423160"/>
            <a:ext cx="3200400" cy="1051560"/>
          </a:xfrm>
          <a:prstGeom prst="roundRect">
            <a:avLst>
              <a:gd name="adj" fmla="val 6957"/>
            </a:avLst>
          </a:prstGeom>
          <a:solidFill>
            <a:srgbClr val="EEF2FB"/>
          </a:solidFill>
          <a:ln w="12700">
            <a:solidFill>
              <a:srgbClr val="EEF2FB"/>
            </a:solidFill>
            <a:prstDash val="solid"/>
          </a:ln>
        </p:spPr>
      </p:sp>
      <p:sp>
        <p:nvSpPr>
          <p:cNvPr id="20" name="Text 18"/>
          <p:cNvSpPr txBox="1"/>
          <p:nvPr/>
        </p:nvSpPr>
        <p:spPr>
          <a:xfrm>
            <a:off x="5623560" y="2496312"/>
            <a:ext cx="2926080" cy="54864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12.4 %</a:t>
            </a:r>
            <a:endParaRPr lang="en-US" sz="2800" dirty="0"/>
          </a:p>
        </p:txBody>
      </p:sp>
      <p:sp>
        <p:nvSpPr>
          <p:cNvPr id="21" name="Text 19"/>
          <p:cNvSpPr txBox="1"/>
          <p:nvPr/>
        </p:nvSpPr>
        <p:spPr>
          <a:xfrm>
            <a:off x="5623560" y="3026664"/>
            <a:ext cx="292608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paths violating it when each model uses its own stopping rule</a:t>
            </a:r>
            <a:endParaRPr lang="en-US" sz="1100" dirty="0"/>
          </a:p>
        </p:txBody>
      </p:sp>
      <p:sp>
        <p:nvSpPr>
          <p:cNvPr id="22" name="Shape 20"/>
          <p:cNvSpPr/>
          <p:nvPr/>
        </p:nvSpPr>
        <p:spPr>
          <a:xfrm>
            <a:off x="5486400" y="3611880"/>
            <a:ext cx="3200400" cy="1051560"/>
          </a:xfrm>
          <a:prstGeom prst="roundRect">
            <a:avLst>
              <a:gd name="adj" fmla="val 6957"/>
            </a:avLst>
          </a:prstGeom>
          <a:solidFill>
            <a:srgbClr val="EEF2FB"/>
          </a:solidFill>
          <a:ln w="12700">
            <a:solidFill>
              <a:srgbClr val="EEF2FB"/>
            </a:solidFill>
            <a:prstDash val="solid"/>
          </a:ln>
        </p:spPr>
      </p:sp>
      <p:sp>
        <p:nvSpPr>
          <p:cNvPr id="23" name="Text 21"/>
          <p:cNvSpPr txBox="1"/>
          <p:nvPr/>
        </p:nvSpPr>
        <p:spPr>
          <a:xfrm>
            <a:off x="5623560" y="3685032"/>
            <a:ext cx="292608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A = B = F = 0</a:t>
            </a:r>
            <a:endParaRPr lang="en-US" sz="2800" dirty="0"/>
          </a:p>
        </p:txBody>
      </p:sp>
      <p:sp>
        <p:nvSpPr>
          <p:cNvPr id="24" name="Text 22"/>
          <p:cNvSpPr txBox="1"/>
          <p:nvPr/>
        </p:nvSpPr>
        <p:spPr>
          <a:xfrm>
            <a:off x="5623560" y="4215384"/>
            <a:ext cx="292608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reference ordering diagnostics, N = 180 and 360</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Refinement vs changing N</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Part 2 — supplied --verify: precise to ~2e-5 $; changing N changes the problem itself</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5120640" cy="914400"/>
        </p:xfrm>
        <a:graphic>
          <a:graphicData uri="http://schemas.openxmlformats.org/drawingml/2006/table">
            <a:tbl>
              <a:tblPr/>
              <a:tblGrid>
                <a:gridCol w="2011680"/>
                <a:gridCol w="1554480"/>
                <a:gridCol w="155448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price change ($)</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boundary change ($)</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r>
              <a:tr h="411480">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Spatial ΔS 0.10 → 0.05</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1.6e-5</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1.8e-3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Time 16 → 32 substeps</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1.8e-5</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1.5e-3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Our solver vs supplied arrays</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8.5e-6</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1.1e-3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411480">
                <a:tc>
                  <a:txBody>
                    <a:bodyPr/>
                    <a:lstStyle/>
                    <a:p>
                      <a:pPr indent="0" marL="0">
                        <a:buNone/>
                      </a:pPr>
                      <a:r>
                        <a:rPr lang="en-US" sz="1200" b="1" dirty="0">
                          <a:solidFill>
                            <a:srgbClr val="1B1B1B"/>
                          </a:solidFill>
                          <a:latin typeface="Calibri" pitchFamily="34" charset="0"/>
                          <a:ea typeface="Calibri" pitchFamily="34" charset="-122"/>
                          <a:cs typeface="Calibri" pitchFamily="34" charset="-120"/>
                        </a:rPr>
                        <a:t>N = 180 → 360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b="1" dirty="0">
                          <a:solidFill>
                            <a:srgbClr val="1B1B1B"/>
                          </a:solidFill>
                          <a:latin typeface="Calibri" pitchFamily="34" charset="0"/>
                          <a:ea typeface="Calibri" pitchFamily="34" charset="-122"/>
                          <a:cs typeface="Calibri" pitchFamily="34" charset="-120"/>
                        </a:rPr>
                        <a:t>2.2e-3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b="1" dirty="0">
                          <a:solidFill>
                            <a:srgbClr val="1B1B1B"/>
                          </a:solidFill>
                          <a:latin typeface="Calibri" pitchFamily="34" charset="0"/>
                          <a:ea typeface="Calibri" pitchFamily="34" charset="-122"/>
                          <a:cs typeface="Calibri" pitchFamily="34" charset="-120"/>
                        </a:rPr>
                        <a:t>0.306</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bl>
          </a:graphicData>
        </a:graphic>
      </p:graphicFrame>
      <p:sp>
        <p:nvSpPr>
          <p:cNvPr id="5" name="Shape 2"/>
          <p:cNvSpPr/>
          <p:nvPr/>
        </p:nvSpPr>
        <p:spPr>
          <a:xfrm>
            <a:off x="5852160" y="1325880"/>
            <a:ext cx="2834640" cy="2057400"/>
          </a:xfrm>
          <a:prstGeom prst="roundRect">
            <a:avLst>
              <a:gd name="adj" fmla="val 3556"/>
            </a:avLst>
          </a:prstGeom>
          <a:solidFill>
            <a:srgbClr val="EEF2FB"/>
          </a:solidFill>
          <a:ln w="12700">
            <a:solidFill>
              <a:srgbClr val="EEF2FB"/>
            </a:solidFill>
            <a:prstDash val="solid"/>
          </a:ln>
        </p:spPr>
      </p:sp>
      <p:sp>
        <p:nvSpPr>
          <p:cNvPr id="6" name="Text 3"/>
          <p:cNvSpPr txBox="1"/>
          <p:nvPr/>
        </p:nvSpPr>
        <p:spPr>
          <a:xfrm>
            <a:off x="5989320" y="1417320"/>
            <a:ext cx="2560320" cy="1874520"/>
          </a:xfrm>
          <a:prstGeom prst="rect">
            <a:avLst/>
          </a:prstGeom>
          <a:noFill/>
          <a:ln/>
        </p:spPr>
        <p:txBody>
          <a:bodyPr wrap="square" lIns="0" tIns="0" rIns="0" bIns="0" rtlCol="0" anchor="t"/>
          <a:lstStyle/>
          <a:p>
            <a:pPr indent="0" marL="0">
              <a:buNone/>
            </a:pPr>
            <a:r>
              <a:rPr lang="en-US" sz="1100" b="1" dirty="0">
                <a:solidFill>
                  <a:srgbClr val="1B1B1B"/>
                </a:solidFill>
                <a:latin typeface="Calibri" pitchFamily="34" charset="0"/>
                <a:ea typeface="Calibri" pitchFamily="34" charset="-122"/>
                <a:cs typeface="Calibri" pitchFamily="34" charset="-120"/>
              </a:rPr>
              <a:t>Supplied reference</a:t>
            </a:r>
            <a:endParaRPr lang="en-US" sz="1100" dirty="0"/>
          </a:p>
          <a:p>
            <a:pPr indent="0" marL="0">
              <a:buNone/>
            </a:pPr>
            <a:r>
              <a:rPr lang="en-US" sz="1100" dirty="0">
                <a:solidFill>
                  <a:srgbClr val="1B1B1B"/>
                </a:solidFill>
                <a:latin typeface="Calibri" pitchFamily="34" charset="0"/>
                <a:ea typeface="Calibri" pitchFamily="34" charset="-122"/>
                <a:cs typeface="Calibri" pitchFamily="34" charset="-120"/>
              </a:rPr>
              <a:t>reference_solver.py --verify passed: saved arrays match a recomputation (≤ 2e-10). Finite differences, ΔS = 0.05, 32 substeps. Our independent log-grid solver agrees to within the refinement changes.</a:t>
            </a:r>
            <a:endParaRPr lang="en-US" sz="1100" dirty="0"/>
          </a:p>
        </p:txBody>
      </p:sp>
      <p:sp>
        <p:nvSpPr>
          <p:cNvPr id="7" name="Shape 4"/>
          <p:cNvSpPr/>
          <p:nvPr/>
        </p:nvSpPr>
        <p:spPr>
          <a:xfrm>
            <a:off x="457200" y="3611880"/>
            <a:ext cx="2468880" cy="1051560"/>
          </a:xfrm>
          <a:prstGeom prst="roundRect">
            <a:avLst>
              <a:gd name="adj" fmla="val 6957"/>
            </a:avLst>
          </a:prstGeom>
          <a:solidFill>
            <a:srgbClr val="EEF2FB"/>
          </a:solidFill>
          <a:ln w="12700">
            <a:solidFill>
              <a:srgbClr val="EEF2FB"/>
            </a:solidFill>
            <a:prstDash val="solid"/>
          </a:ln>
        </p:spPr>
      </p:sp>
      <p:sp>
        <p:nvSpPr>
          <p:cNvPr id="8" name="Text 5"/>
          <p:cNvSpPr txBox="1"/>
          <p:nvPr/>
        </p:nvSpPr>
        <p:spPr>
          <a:xfrm>
            <a:off x="594360" y="3685032"/>
            <a:ext cx="2194560" cy="54864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 2e-5 $</a:t>
            </a:r>
            <a:endParaRPr lang="en-US" sz="2800" dirty="0"/>
          </a:p>
        </p:txBody>
      </p:sp>
      <p:sp>
        <p:nvSpPr>
          <p:cNvPr id="9" name="Text 6"/>
          <p:cNvSpPr txBox="1"/>
          <p:nvPr/>
        </p:nvSpPr>
        <p:spPr>
          <a:xfrm>
            <a:off x="594360" y="4215384"/>
            <a:ext cx="219456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reference price precision (largest refinement change)</a:t>
            </a:r>
            <a:endParaRPr lang="en-US" sz="1100" dirty="0"/>
          </a:p>
        </p:txBody>
      </p:sp>
      <p:sp>
        <p:nvSpPr>
          <p:cNvPr id="10" name="Shape 7"/>
          <p:cNvSpPr/>
          <p:nvPr/>
        </p:nvSpPr>
        <p:spPr>
          <a:xfrm>
            <a:off x="3108960" y="3611880"/>
            <a:ext cx="2468880" cy="1051560"/>
          </a:xfrm>
          <a:prstGeom prst="roundRect">
            <a:avLst>
              <a:gd name="adj" fmla="val 6957"/>
            </a:avLst>
          </a:prstGeom>
          <a:solidFill>
            <a:srgbClr val="EEF2FB"/>
          </a:solidFill>
          <a:ln w="12700">
            <a:solidFill>
              <a:srgbClr val="EEF2FB"/>
            </a:solidFill>
            <a:prstDash val="solid"/>
          </a:ln>
        </p:spPr>
      </p:sp>
      <p:sp>
        <p:nvSpPr>
          <p:cNvPr id="11" name="Text 8"/>
          <p:cNvSpPr txBox="1"/>
          <p:nvPr/>
        </p:nvSpPr>
        <p:spPr>
          <a:xfrm>
            <a:off x="3246120" y="3685032"/>
            <a:ext cx="2194560" cy="54864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 0.3 $</a:t>
            </a:r>
            <a:endParaRPr lang="en-US" sz="2800" dirty="0"/>
          </a:p>
        </p:txBody>
      </p:sp>
      <p:sp>
        <p:nvSpPr>
          <p:cNvPr id="12" name="Text 9"/>
          <p:cNvSpPr txBox="1"/>
          <p:nvPr/>
        </p:nvSpPr>
        <p:spPr>
          <a:xfrm>
            <a:off x="3246120" y="4215384"/>
            <a:ext cx="219456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boundary shift from N = 180 → 360: a different problem</a:t>
            </a:r>
            <a:endParaRPr lang="en-US" sz="1100" dirty="0"/>
          </a:p>
        </p:txBody>
      </p:sp>
      <p:sp>
        <p:nvSpPr>
          <p:cNvPr id="13" name="Text 10"/>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i="1" dirty="0">
                <a:solidFill>
                  <a:srgbClr val="5A5F6E"/>
                </a:solidFill>
                <a:latin typeface="Calibri" pitchFamily="34" charset="0"/>
                <a:ea typeface="Calibri" pitchFamily="34" charset="-122"/>
                <a:cs typeface="Calibri" pitchFamily="34" charset="-120"/>
              </a:rPr>
              <a:t>A claimed accuracy gain smaller than the reference's own precision (~2e-5 $ in price, ~2e-3 $ in boundary) cannot be resolved.</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Exact simulation passes the martingale check</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Part 2 — (mean S_T − S₀e^(rT)(1−δ)³) / SE on the final S₀ = 100 sample</a:t>
            </a:r>
            <a:endParaRPr lang="en-US" sz="1300" dirty="0"/>
          </a:p>
        </p:txBody>
      </p:sp>
      <p:sp>
        <p:nvSpPr>
          <p:cNvPr id="4" name="Shape 2"/>
          <p:cNvSpPr/>
          <p:nvPr/>
        </p:nvSpPr>
        <p:spPr>
          <a:xfrm>
            <a:off x="457200" y="1325880"/>
            <a:ext cx="1920240" cy="1051560"/>
          </a:xfrm>
          <a:prstGeom prst="roundRect">
            <a:avLst>
              <a:gd name="adj" fmla="val 6957"/>
            </a:avLst>
          </a:prstGeom>
          <a:solidFill>
            <a:srgbClr val="EEF2FB"/>
          </a:solidFill>
          <a:ln w="12700">
            <a:solidFill>
              <a:srgbClr val="EEF2FB"/>
            </a:solidFill>
            <a:prstDash val="solid"/>
          </a:ln>
        </p:spPr>
      </p:sp>
      <p:sp>
        <p:nvSpPr>
          <p:cNvPr id="5" name="Text 3"/>
          <p:cNvSpPr txBox="1"/>
          <p:nvPr/>
        </p:nvSpPr>
        <p:spPr>
          <a:xfrm>
            <a:off x="594360" y="1399032"/>
            <a:ext cx="16459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+0.12</a:t>
            </a:r>
            <a:endParaRPr lang="en-US" sz="2800" dirty="0"/>
          </a:p>
        </p:txBody>
      </p:sp>
      <p:sp>
        <p:nvSpPr>
          <p:cNvPr id="6" name="Text 4"/>
          <p:cNvSpPr txBox="1"/>
          <p:nvPr/>
        </p:nvSpPr>
        <p:spPr>
          <a:xfrm>
            <a:off x="594360" y="1929384"/>
            <a:ext cx="16459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case 0: N = 180, δ = 0</a:t>
            </a:r>
            <a:endParaRPr lang="en-US" sz="1100" dirty="0"/>
          </a:p>
        </p:txBody>
      </p:sp>
      <p:sp>
        <p:nvSpPr>
          <p:cNvPr id="7" name="Shape 5"/>
          <p:cNvSpPr/>
          <p:nvPr/>
        </p:nvSpPr>
        <p:spPr>
          <a:xfrm>
            <a:off x="2542032" y="1325880"/>
            <a:ext cx="1920240" cy="1051560"/>
          </a:xfrm>
          <a:prstGeom prst="roundRect">
            <a:avLst>
              <a:gd name="adj" fmla="val 6957"/>
            </a:avLst>
          </a:prstGeom>
          <a:solidFill>
            <a:srgbClr val="EEF2FB"/>
          </a:solidFill>
          <a:ln w="12700">
            <a:solidFill>
              <a:srgbClr val="EEF2FB"/>
            </a:solidFill>
            <a:prstDash val="solid"/>
          </a:ln>
        </p:spPr>
      </p:sp>
      <p:sp>
        <p:nvSpPr>
          <p:cNvPr id="8" name="Text 6"/>
          <p:cNvSpPr txBox="1"/>
          <p:nvPr/>
        </p:nvSpPr>
        <p:spPr>
          <a:xfrm>
            <a:off x="2679192" y="1399032"/>
            <a:ext cx="16459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+0.62</a:t>
            </a:r>
            <a:endParaRPr lang="en-US" sz="2800" dirty="0"/>
          </a:p>
        </p:txBody>
      </p:sp>
      <p:sp>
        <p:nvSpPr>
          <p:cNvPr id="9" name="Text 7"/>
          <p:cNvSpPr txBox="1"/>
          <p:nvPr/>
        </p:nvSpPr>
        <p:spPr>
          <a:xfrm>
            <a:off x="2679192" y="1929384"/>
            <a:ext cx="16459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case 1: N = 180, δ = 0.0125</a:t>
            </a:r>
            <a:endParaRPr lang="en-US" sz="1100" dirty="0"/>
          </a:p>
        </p:txBody>
      </p:sp>
      <p:sp>
        <p:nvSpPr>
          <p:cNvPr id="10" name="Shape 8"/>
          <p:cNvSpPr/>
          <p:nvPr/>
        </p:nvSpPr>
        <p:spPr>
          <a:xfrm>
            <a:off x="4626864" y="1325880"/>
            <a:ext cx="1920240" cy="1051560"/>
          </a:xfrm>
          <a:prstGeom prst="roundRect">
            <a:avLst>
              <a:gd name="adj" fmla="val 6957"/>
            </a:avLst>
          </a:prstGeom>
          <a:solidFill>
            <a:srgbClr val="EEF2FB"/>
          </a:solidFill>
          <a:ln w="12700">
            <a:solidFill>
              <a:srgbClr val="EEF2FB"/>
            </a:solidFill>
            <a:prstDash val="solid"/>
          </a:ln>
        </p:spPr>
      </p:sp>
      <p:sp>
        <p:nvSpPr>
          <p:cNvPr id="11" name="Text 9"/>
          <p:cNvSpPr txBox="1"/>
          <p:nvPr/>
        </p:nvSpPr>
        <p:spPr>
          <a:xfrm>
            <a:off x="4764024" y="1399032"/>
            <a:ext cx="1645920" cy="54864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+1.96</a:t>
            </a:r>
            <a:endParaRPr lang="en-US" sz="2800" dirty="0"/>
          </a:p>
        </p:txBody>
      </p:sp>
      <p:sp>
        <p:nvSpPr>
          <p:cNvPr id="12" name="Text 10"/>
          <p:cNvSpPr txBox="1"/>
          <p:nvPr/>
        </p:nvSpPr>
        <p:spPr>
          <a:xfrm>
            <a:off x="4764024" y="1929384"/>
            <a:ext cx="16459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case 2: N = 360, δ = 0</a:t>
            </a:r>
            <a:endParaRPr lang="en-US" sz="1100" dirty="0"/>
          </a:p>
        </p:txBody>
      </p:sp>
      <p:sp>
        <p:nvSpPr>
          <p:cNvPr id="13" name="Shape 11"/>
          <p:cNvSpPr/>
          <p:nvPr/>
        </p:nvSpPr>
        <p:spPr>
          <a:xfrm>
            <a:off x="6711696" y="1325880"/>
            <a:ext cx="1920240" cy="1051560"/>
          </a:xfrm>
          <a:prstGeom prst="roundRect">
            <a:avLst>
              <a:gd name="adj" fmla="val 6957"/>
            </a:avLst>
          </a:prstGeom>
          <a:solidFill>
            <a:srgbClr val="EEF2FB"/>
          </a:solidFill>
          <a:ln w="12700">
            <a:solidFill>
              <a:srgbClr val="EEF2FB"/>
            </a:solidFill>
            <a:prstDash val="solid"/>
          </a:ln>
        </p:spPr>
      </p:sp>
      <p:sp>
        <p:nvSpPr>
          <p:cNvPr id="14" name="Text 12"/>
          <p:cNvSpPr txBox="1"/>
          <p:nvPr/>
        </p:nvSpPr>
        <p:spPr>
          <a:xfrm>
            <a:off x="6848856" y="1399032"/>
            <a:ext cx="16459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+0.23</a:t>
            </a:r>
            <a:endParaRPr lang="en-US" sz="2800" dirty="0"/>
          </a:p>
        </p:txBody>
      </p:sp>
      <p:sp>
        <p:nvSpPr>
          <p:cNvPr id="15" name="Text 13"/>
          <p:cNvSpPr txBox="1"/>
          <p:nvPr/>
        </p:nvSpPr>
        <p:spPr>
          <a:xfrm>
            <a:off x="6848856" y="1929384"/>
            <a:ext cx="164592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case 3: N = 360, δ = 0.0125</a:t>
            </a:r>
            <a:endParaRPr lang="en-US" sz="1100" dirty="0"/>
          </a:p>
        </p:txBody>
      </p:sp>
      <p:sp>
        <p:nvSpPr>
          <p:cNvPr id="16" name="Text 14"/>
          <p:cNvSpPr txBox="1"/>
          <p:nvPr/>
        </p:nvSpPr>
        <p:spPr>
          <a:xfrm>
            <a:off x="457200" y="2651760"/>
            <a:ext cx="8229600" cy="201168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Exact lognormal step, dividend applied on arrival at an integer dividend index; a start at a dividend date is post-jump.</a:t>
            </a:r>
            <a:endParaRPr lang="en-US" sz="1300" dirty="0"/>
          </a:p>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Training mixture A (README rule): v, u uniform; A = K·0.001^(1−u) if v &lt; 1/2, else K(0.2 + u).</a:t>
            </a:r>
            <a:endParaRPr lang="en-US" sz="1300" dirty="0"/>
          </a:p>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All four z-scores lie inside ±2; case 2 sits at the edge (1.96), which is plausible for one of four draws.</a:t>
            </a:r>
            <a:endParaRPr lang="en-US" sz="1300" dirty="0"/>
          </a:p>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All banks follow the README draw order and arithmetic: one default_rng per bank, starts then normals, log1p(−δ) before dividend indices.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Longstaff–Schwartz, turned into a threshold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Part 3 — 32,768 paths from S₀ ~ A, targets in time-zero dollars</a:t>
            </a:r>
            <a:endParaRPr lang="en-US" sz="1300" dirty="0"/>
          </a:p>
        </p:txBody>
      </p:sp>
      <p:sp>
        <p:nvSpPr>
          <p:cNvPr id="4" name="Shape 2"/>
          <p:cNvSpPr/>
          <p:nvPr/>
        </p:nvSpPr>
        <p:spPr>
          <a:xfrm>
            <a:off x="457200" y="1371600"/>
            <a:ext cx="1920240" cy="1828800"/>
          </a:xfrm>
          <a:prstGeom prst="roundRect">
            <a:avLst>
              <a:gd name="adj" fmla="val 4000"/>
            </a:avLst>
          </a:prstGeom>
          <a:solidFill>
            <a:srgbClr val="EEF2FB"/>
          </a:solidFill>
          <a:ln w="12700">
            <a:solidFill>
              <a:srgbClr val="EEF2FB"/>
            </a:solidFill>
            <a:prstDash val="solid"/>
          </a:ln>
        </p:spPr>
      </p:sp>
      <p:sp>
        <p:nvSpPr>
          <p:cNvPr id="5" name="Shape 3"/>
          <p:cNvSpPr/>
          <p:nvPr/>
        </p:nvSpPr>
        <p:spPr>
          <a:xfrm>
            <a:off x="594360" y="1508760"/>
            <a:ext cx="384048" cy="384048"/>
          </a:xfrm>
          <a:prstGeom prst="ellipse">
            <a:avLst/>
          </a:prstGeom>
          <a:solidFill>
            <a:srgbClr val="EB6834"/>
          </a:solidFill>
          <a:ln/>
        </p:spPr>
      </p:sp>
      <p:sp>
        <p:nvSpPr>
          <p:cNvPr id="6" name="Text 4"/>
          <p:cNvSpPr txBox="1"/>
          <p:nvPr/>
        </p:nvSpPr>
        <p:spPr>
          <a:xfrm>
            <a:off x="59436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051560" y="1508760"/>
            <a:ext cx="1280160" cy="384048"/>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Regress</a:t>
            </a:r>
            <a:endParaRPr lang="en-US" sz="1500" dirty="0"/>
          </a:p>
        </p:txBody>
      </p:sp>
      <p:sp>
        <p:nvSpPr>
          <p:cNvPr id="8" name="Text 6"/>
          <p:cNvSpPr txBox="1"/>
          <p:nvPr/>
        </p:nvSpPr>
        <p:spPr>
          <a:xfrm>
            <a:off x="594360" y="2011680"/>
            <a:ext cx="1691640" cy="1143000"/>
          </a:xfrm>
          <a:prstGeom prst="rect">
            <a:avLst/>
          </a:prstGeom>
          <a:noFill/>
          <a:ln/>
        </p:spPr>
        <p:txBody>
          <a:bodyPr wrap="square" lIns="0" tIns="0" rIns="0" bIns="0" rtlCol="0" anchor="t"/>
          <a:lstStyle/>
          <a:p>
            <a:pPr indent="0" marL="0">
              <a:buNone/>
            </a:pPr>
            <a:r>
              <a:rPr lang="en-US" sz="1200" dirty="0">
                <a:solidFill>
                  <a:srgbClr val="1B1B1B"/>
                </a:solidFill>
                <a:latin typeface="Calibri" pitchFamily="34" charset="0"/>
                <a:ea typeface="Calibri" pitchFamily="34" charset="-122"/>
                <a:cs typeface="Calibri" pitchFamily="34" charset="-120"/>
              </a:rPr>
              <a:t>Y on 1, x, x², x³ over ITM rows (SVD least squares)</a:t>
            </a:r>
            <a:endParaRPr lang="en-US" sz="1200" dirty="0"/>
          </a:p>
        </p:txBody>
      </p:sp>
      <p:sp>
        <p:nvSpPr>
          <p:cNvPr id="9" name="Shape 7"/>
          <p:cNvSpPr/>
          <p:nvPr/>
        </p:nvSpPr>
        <p:spPr>
          <a:xfrm>
            <a:off x="2560320" y="1371600"/>
            <a:ext cx="1920240" cy="1828800"/>
          </a:xfrm>
          <a:prstGeom prst="roundRect">
            <a:avLst>
              <a:gd name="adj" fmla="val 4000"/>
            </a:avLst>
          </a:prstGeom>
          <a:solidFill>
            <a:srgbClr val="EEF2FB"/>
          </a:solidFill>
          <a:ln w="12700">
            <a:solidFill>
              <a:srgbClr val="EEF2FB"/>
            </a:solidFill>
            <a:prstDash val="solid"/>
          </a:ln>
        </p:spPr>
      </p:sp>
      <p:sp>
        <p:nvSpPr>
          <p:cNvPr id="10" name="Shape 8"/>
          <p:cNvSpPr/>
          <p:nvPr/>
        </p:nvSpPr>
        <p:spPr>
          <a:xfrm>
            <a:off x="2697480" y="1508760"/>
            <a:ext cx="384048" cy="384048"/>
          </a:xfrm>
          <a:prstGeom prst="ellipse">
            <a:avLst/>
          </a:prstGeom>
          <a:solidFill>
            <a:srgbClr val="EB6834"/>
          </a:solidFill>
          <a:ln/>
        </p:spPr>
      </p:sp>
      <p:sp>
        <p:nvSpPr>
          <p:cNvPr id="11" name="Text 9"/>
          <p:cNvSpPr txBox="1"/>
          <p:nvPr/>
        </p:nvSpPr>
        <p:spPr>
          <a:xfrm>
            <a:off x="269748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3154680" y="1508760"/>
            <a:ext cx="1280160" cy="384048"/>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Clip</a:t>
            </a:r>
            <a:endParaRPr lang="en-US" sz="1500" dirty="0"/>
          </a:p>
        </p:txBody>
      </p:sp>
      <p:sp>
        <p:nvSpPr>
          <p:cNvPr id="13" name="Text 11"/>
          <p:cNvSpPr txBox="1"/>
          <p:nvPr/>
        </p:nvSpPr>
        <p:spPr>
          <a:xfrm>
            <a:off x="2697480" y="2011680"/>
            <a:ext cx="1691640" cy="1143000"/>
          </a:xfrm>
          <a:prstGeom prst="rect">
            <a:avLst/>
          </a:prstGeom>
          <a:noFill/>
          <a:ln/>
        </p:spPr>
        <p:txBody>
          <a:bodyPr wrap="square" lIns="0" tIns="0" rIns="0" bIns="0" rtlCol="0" anchor="t"/>
          <a:lstStyle/>
          <a:p>
            <a:pPr indent="0" marL="0">
              <a:buNone/>
            </a:pPr>
            <a:r>
              <a:rPr lang="en-US" sz="1200" dirty="0">
                <a:solidFill>
                  <a:srgbClr val="1B1B1B"/>
                </a:solidFill>
                <a:latin typeface="Calibri" pitchFamily="34" charset="0"/>
                <a:ea typeface="Calibri" pitchFamily="34" charset="-122"/>
                <a:cs typeface="Calibri" pitchFamily="34" charset="-120"/>
              </a:rPr>
              <a:t>c_j ∈ [0, K e^(−r t_{j+1})] ⇒ H₀ &gt; 0</a:t>
            </a:r>
            <a:endParaRPr lang="en-US" sz="1200" dirty="0"/>
          </a:p>
        </p:txBody>
      </p:sp>
      <p:sp>
        <p:nvSpPr>
          <p:cNvPr id="14" name="Shape 12"/>
          <p:cNvSpPr/>
          <p:nvPr/>
        </p:nvSpPr>
        <p:spPr>
          <a:xfrm>
            <a:off x="4663440" y="1371600"/>
            <a:ext cx="1920240" cy="1828800"/>
          </a:xfrm>
          <a:prstGeom prst="roundRect">
            <a:avLst>
              <a:gd name="adj" fmla="val 4000"/>
            </a:avLst>
          </a:prstGeom>
          <a:solidFill>
            <a:srgbClr val="EEF2FB"/>
          </a:solidFill>
          <a:ln w="12700">
            <a:solidFill>
              <a:srgbClr val="EEF2FB"/>
            </a:solidFill>
            <a:prstDash val="solid"/>
          </a:ln>
        </p:spPr>
      </p:sp>
      <p:sp>
        <p:nvSpPr>
          <p:cNvPr id="15" name="Shape 13"/>
          <p:cNvSpPr/>
          <p:nvPr/>
        </p:nvSpPr>
        <p:spPr>
          <a:xfrm>
            <a:off x="4800600" y="1508760"/>
            <a:ext cx="384048" cy="384048"/>
          </a:xfrm>
          <a:prstGeom prst="ellipse">
            <a:avLst/>
          </a:prstGeom>
          <a:solidFill>
            <a:srgbClr val="EB6834"/>
          </a:solidFill>
          <a:ln/>
        </p:spPr>
      </p:sp>
      <p:sp>
        <p:nvSpPr>
          <p:cNvPr id="16" name="Text 14"/>
          <p:cNvSpPr txBox="1"/>
          <p:nvPr/>
        </p:nvSpPr>
        <p:spPr>
          <a:xfrm>
            <a:off x="480060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5257800" y="1508760"/>
            <a:ext cx="1280160" cy="384048"/>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Threshold</a:t>
            </a:r>
            <a:endParaRPr lang="en-US" sz="1500" dirty="0"/>
          </a:p>
        </p:txBody>
      </p:sp>
      <p:sp>
        <p:nvSpPr>
          <p:cNvPr id="18" name="Text 16"/>
          <p:cNvSpPr txBox="1"/>
          <p:nvPr/>
        </p:nvSpPr>
        <p:spPr>
          <a:xfrm>
            <a:off x="4800600" y="2011680"/>
            <a:ext cx="1691640" cy="1143000"/>
          </a:xfrm>
          <a:prstGeom prst="rect">
            <a:avLst/>
          </a:prstGeom>
          <a:noFill/>
          <a:ln/>
        </p:spPr>
        <p:txBody>
          <a:bodyPr wrap="square" lIns="0" tIns="0" rIns="0" bIns="0" rtlCol="0" anchor="t"/>
          <a:lstStyle/>
          <a:p>
            <a:pPr indent="0" marL="0">
              <a:buNone/>
            </a:pPr>
            <a:r>
              <a:rPr lang="en-US" sz="1200" dirty="0">
                <a:solidFill>
                  <a:srgbClr val="1B1B1B"/>
                </a:solidFill>
                <a:latin typeface="Calibri" pitchFamily="34" charset="0"/>
                <a:ea typeface="Calibri" pitchFamily="34" charset="-122"/>
                <a:cs typeface="Calibri" pitchFamily="34" charset="-120"/>
              </a:rPr>
              <a:t>largest +/− crossing of H on s = 0.1ℓ</a:t>
            </a:r>
            <a:endParaRPr lang="en-US" sz="1200" dirty="0"/>
          </a:p>
        </p:txBody>
      </p:sp>
      <p:sp>
        <p:nvSpPr>
          <p:cNvPr id="19" name="Shape 17"/>
          <p:cNvSpPr/>
          <p:nvPr/>
        </p:nvSpPr>
        <p:spPr>
          <a:xfrm>
            <a:off x="6766560" y="1371600"/>
            <a:ext cx="1920240" cy="1828800"/>
          </a:xfrm>
          <a:prstGeom prst="roundRect">
            <a:avLst>
              <a:gd name="adj" fmla="val 4000"/>
            </a:avLst>
          </a:prstGeom>
          <a:solidFill>
            <a:srgbClr val="EEF2FB"/>
          </a:solidFill>
          <a:ln w="12700">
            <a:solidFill>
              <a:srgbClr val="EEF2FB"/>
            </a:solidFill>
            <a:prstDash val="solid"/>
          </a:ln>
        </p:spPr>
      </p:sp>
      <p:sp>
        <p:nvSpPr>
          <p:cNvPr id="20" name="Shape 18"/>
          <p:cNvSpPr/>
          <p:nvPr/>
        </p:nvSpPr>
        <p:spPr>
          <a:xfrm>
            <a:off x="6903720" y="1508760"/>
            <a:ext cx="384048" cy="384048"/>
          </a:xfrm>
          <a:prstGeom prst="ellipse">
            <a:avLst/>
          </a:prstGeom>
          <a:solidFill>
            <a:srgbClr val="EB6834"/>
          </a:solidFill>
          <a:ln/>
        </p:spPr>
      </p:sp>
      <p:sp>
        <p:nvSpPr>
          <p:cNvPr id="21" name="Text 19"/>
          <p:cNvSpPr txBox="1"/>
          <p:nvPr/>
        </p:nvSpPr>
        <p:spPr>
          <a:xfrm>
            <a:off x="690372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7360920" y="1508760"/>
            <a:ext cx="1280160" cy="384048"/>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Cap &amp; update</a:t>
            </a:r>
            <a:endParaRPr lang="en-US" sz="1500" dirty="0"/>
          </a:p>
        </p:txBody>
      </p:sp>
      <p:sp>
        <p:nvSpPr>
          <p:cNvPr id="23" name="Text 21"/>
          <p:cNvSpPr txBox="1"/>
          <p:nvPr/>
        </p:nvSpPr>
        <p:spPr>
          <a:xfrm>
            <a:off x="6903720" y="2011680"/>
            <a:ext cx="1691640" cy="1143000"/>
          </a:xfrm>
          <a:prstGeom prst="rect">
            <a:avLst/>
          </a:prstGeom>
          <a:noFill/>
          <a:ln/>
        </p:spPr>
        <p:txBody>
          <a:bodyPr wrap="square" lIns="0" tIns="0" rIns="0" bIns="0" rtlCol="0" anchor="t"/>
          <a:lstStyle/>
          <a:p>
            <a:pPr indent="0" marL="0">
              <a:buNone/>
            </a:pPr>
            <a:r>
              <a:rPr lang="en-US" sz="1200" dirty="0">
                <a:solidFill>
                  <a:srgbClr val="1B1B1B"/>
                </a:solidFill>
                <a:latin typeface="Calibri" pitchFamily="34" charset="0"/>
                <a:ea typeface="Calibri" pitchFamily="34" charset="-122"/>
                <a:cs typeface="Calibri" pitchFamily="34" charset="-120"/>
              </a:rPr>
              <a:t>b_j = min(U_j, candidate); exercised paths get e^(−r t_j)(K − S_j)</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3383280"/>
          <a:ext cx="8229600" cy="914400"/>
        </p:xfrm>
        <a:graphic>
          <a:graphicData uri="http://schemas.openxmlformats.org/drawingml/2006/table">
            <a:tbl>
              <a:tblPr/>
              <a:tblGrid>
                <a:gridCol w="1097280"/>
                <a:gridCol w="1371600"/>
                <a:gridCol w="2103120"/>
                <a:gridCol w="1645920"/>
                <a:gridCol w="20116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Fallbacks</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Multi-crossing dates</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Capped dates</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Replay max|Q−Y|</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r>
              <a:tr h="246888">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176 / 180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246888">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138 / 180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246888">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360 / 360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246888">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273 / 360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154</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Why the largest crossing is the right one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A cubic over [0.001K, K] cannot follow the curvature: H dips below zero near s ≈ 3</a:t>
            </a:r>
            <a:endParaRPr lang="en-US" sz="1300" dirty="0"/>
          </a:p>
        </p:txBody>
      </p:sp>
      <p:pic>
        <p:nvPicPr>
          <p:cNvPr id="4" name="Image 0" descr="figures/p23_H_example.png">    </p:cNvPr>
          <p:cNvPicPr>
            <a:picLocks noChangeAspect="1"/>
          </p:cNvPicPr>
          <p:nvPr/>
        </p:nvPicPr>
        <p:blipFill>
          <a:blip r:embed="rId1"/>
          <a:stretch>
            <a:fillRect/>
          </a:stretch>
        </p:blipFill>
        <p:spPr>
          <a:xfrm>
            <a:off x="457200" y="1234440"/>
            <a:ext cx="8229600" cy="2945331"/>
          </a:xfrm>
          <a:prstGeom prst="rect">
            <a:avLst/>
          </a:prstGeom>
        </p:spPr>
      </p:pic>
      <p:sp>
        <p:nvSpPr>
          <p:cNvPr id="5" name="Text 2"/>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i="1" dirty="0">
                <a:solidFill>
                  <a:srgbClr val="5A5F6E"/>
                </a:solidFill>
                <a:latin typeface="Calibri" pitchFamily="34" charset="0"/>
                <a:ea typeface="Calibri" pitchFamily="34" charset="-122"/>
                <a:cs typeface="Calibri" pitchFamily="34" charset="-120"/>
              </a:rPr>
              <a:t>Case 0, date j = 90. Selecting the largest crossing gives one exercise interval (0, b] and discards the spurious continuation pocket around s ≈ 3–34.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A neural boundary under the cap</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Part 4 — b_θ(t_j) = U_j · sigmoid(f_θ(t_j)); the cap is built in, the network learns the shape</a:t>
            </a:r>
            <a:endParaRPr lang="en-US" sz="1300" dirty="0"/>
          </a:p>
        </p:txBody>
      </p:sp>
      <p:sp>
        <p:nvSpPr>
          <p:cNvPr id="4" name="Shape 2"/>
          <p:cNvSpPr/>
          <p:nvPr/>
        </p:nvSpPr>
        <p:spPr>
          <a:xfrm>
            <a:off x="457200" y="1280160"/>
            <a:ext cx="384048" cy="384048"/>
          </a:xfrm>
          <a:prstGeom prst="ellipse">
            <a:avLst/>
          </a:prstGeom>
          <a:solidFill>
            <a:srgbClr val="EB6834"/>
          </a:solidFill>
          <a:ln/>
        </p:spPr>
      </p:sp>
      <p:sp>
        <p:nvSpPr>
          <p:cNvPr id="5"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207008"/>
            <a:ext cx="4297680" cy="73152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Architecture. </a:t>
            </a:r>
            <a:pPr indent="0" marL="0">
              <a:buNone/>
            </a:pPr>
            <a:r>
              <a:rPr lang="en-US" sz="1200" dirty="0">
                <a:solidFill>
                  <a:srgbClr val="1B1B1B"/>
                </a:solidFill>
                <a:latin typeface="Calibri" pitchFamily="34" charset="0"/>
                <a:ea typeface="Calibri" pitchFamily="34" charset="-122"/>
                <a:cs typeface="Calibri" pitchFamily="34" charset="-120"/>
              </a:rPr>
              <a:t>δ = 0: one net on [0, T]. δ &gt; 0: four nets on [0,d₁), [d₁,d₂), [d₂,d₃), [d₃,T]. Each Linear(1,8) → tanh → Linear(8,1), input x = (t−α)/(β−α).</a:t>
            </a:r>
            <a:endParaRPr lang="en-US" sz="1200" dirty="0"/>
          </a:p>
        </p:txBody>
      </p:sp>
      <p:sp>
        <p:nvSpPr>
          <p:cNvPr id="7" name="Shape 5"/>
          <p:cNvSpPr/>
          <p:nvPr/>
        </p:nvSpPr>
        <p:spPr>
          <a:xfrm>
            <a:off x="457200" y="2103120"/>
            <a:ext cx="384048" cy="384048"/>
          </a:xfrm>
          <a:prstGeom prst="ellipse">
            <a:avLst/>
          </a:prstGeom>
          <a:solidFill>
            <a:srgbClr val="EB6834"/>
          </a:solidFill>
          <a:ln/>
        </p:spPr>
      </p:sp>
      <p:sp>
        <p:nvSpPr>
          <p:cNvPr id="8" name="Text 6"/>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2029968"/>
            <a:ext cx="4297680" cy="73152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Warm start. </a:t>
            </a:r>
            <a:pPr indent="0" marL="0">
              <a:buNone/>
            </a:pPr>
            <a:r>
              <a:rPr lang="en-US" sz="1200" dirty="0">
                <a:solidFill>
                  <a:srgbClr val="1B1B1B"/>
                </a:solidFill>
                <a:latin typeface="Calibri" pitchFamily="34" charset="0"/>
                <a:ea typeface="Calibri" pitchFamily="34" charset="-122"/>
                <a:cs typeface="Calibri" pitchFamily="34" charset="-120"/>
              </a:rPr>
              <a:t>1,000 full-grid Adam steps (lr 0.01) onto the LS thresholds → checkpoint 0.</a:t>
            </a:r>
            <a:endParaRPr lang="en-US" sz="1200" dirty="0"/>
          </a:p>
        </p:txBody>
      </p:sp>
      <p:sp>
        <p:nvSpPr>
          <p:cNvPr id="10" name="Shape 8"/>
          <p:cNvSpPr/>
          <p:nvPr/>
        </p:nvSpPr>
        <p:spPr>
          <a:xfrm>
            <a:off x="457200" y="2926080"/>
            <a:ext cx="384048" cy="384048"/>
          </a:xfrm>
          <a:prstGeom prst="ellipse">
            <a:avLst/>
          </a:prstGeom>
          <a:solidFill>
            <a:srgbClr val="EB6834"/>
          </a:solidFill>
          <a:ln/>
        </p:spPr>
      </p:sp>
      <p:sp>
        <p:nvSpPr>
          <p:cNvPr id="11" name="Text 9"/>
          <p:cNvSpPr txBox="1"/>
          <p:nvPr/>
        </p:nvSpPr>
        <p:spPr>
          <a:xfrm>
            <a:off x="457200" y="2926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852928"/>
            <a:ext cx="4297680" cy="73152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Payoff stage. </a:t>
            </a:r>
            <a:pPr indent="0" marL="0">
              <a:buNone/>
            </a:pPr>
            <a:r>
              <a:rPr lang="en-US" sz="1200" dirty="0">
                <a:solidFill>
                  <a:srgbClr val="1B1B1B"/>
                </a:solidFill>
                <a:latin typeface="Calibri" pitchFamily="34" charset="0"/>
                <a:ea typeface="Calibri" pitchFamily="34" charset="-122"/>
                <a:cs typeface="Calibri" pitchFamily="34" charset="-120"/>
              </a:rPr>
              <a:t>2,400 Adam steps (lr 0.003), batches of 512 from 8,192 random-start paths; ε = 0.01 → 0.002 after 400.</a:t>
            </a:r>
            <a:endParaRPr lang="en-US" sz="1200" dirty="0"/>
          </a:p>
        </p:txBody>
      </p:sp>
      <p:sp>
        <p:nvSpPr>
          <p:cNvPr id="13" name="Shape 11"/>
          <p:cNvSpPr/>
          <p:nvPr/>
        </p:nvSpPr>
        <p:spPr>
          <a:xfrm>
            <a:off x="457200" y="3749040"/>
            <a:ext cx="384048" cy="384048"/>
          </a:xfrm>
          <a:prstGeom prst="ellipse">
            <a:avLst/>
          </a:prstGeom>
          <a:solidFill>
            <a:srgbClr val="EB6834"/>
          </a:solidFill>
          <a:ln/>
        </p:spPr>
      </p:sp>
      <p:sp>
        <p:nvSpPr>
          <p:cNvPr id="14" name="Text 12"/>
          <p:cNvSpPr txBox="1"/>
          <p:nvPr/>
        </p:nvSpPr>
        <p:spPr>
          <a:xfrm>
            <a:off x="457200" y="3749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3675888"/>
            <a:ext cx="4297680" cy="73152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Selection. </a:t>
            </a:r>
            <a:pPr indent="0" marL="0">
              <a:buNone/>
            </a:pPr>
            <a:r>
              <a:rPr lang="en-US" sz="1200" dirty="0">
                <a:solidFill>
                  <a:srgbClr val="1B1B1B"/>
                </a:solidFill>
                <a:latin typeface="Calibri" pitchFamily="34" charset="0"/>
                <a:ea typeface="Calibri" pitchFamily="34" charset="-122"/>
                <a:cs typeface="Calibri" pitchFamily="34" charset="-120"/>
              </a:rPr>
              <a:t>Hard rule on 4,096 validation paths at checkpoints 0, 400, …, 2,400; best mean wins, ties → earliest.</a:t>
            </a:r>
            <a:endParaRPr lang="en-US" sz="1200" dirty="0"/>
          </a:p>
        </p:txBody>
      </p:sp>
      <p:sp>
        <p:nvSpPr>
          <p:cNvPr id="16" name="Shape 14"/>
          <p:cNvSpPr/>
          <p:nvPr/>
        </p:nvSpPr>
        <p:spPr>
          <a:xfrm>
            <a:off x="5486400" y="1234440"/>
            <a:ext cx="3200400" cy="3291840"/>
          </a:xfrm>
          <a:prstGeom prst="roundRect">
            <a:avLst>
              <a:gd name="adj" fmla="val 2286"/>
            </a:avLst>
          </a:prstGeom>
          <a:solidFill>
            <a:srgbClr val="EEF2FB"/>
          </a:solidFill>
          <a:ln w="12700">
            <a:solidFill>
              <a:srgbClr val="EEF2FB"/>
            </a:solidFill>
            <a:prstDash val="solid"/>
          </a:ln>
        </p:spPr>
      </p:sp>
      <p:sp>
        <p:nvSpPr>
          <p:cNvPr id="17" name="Text 15"/>
          <p:cNvSpPr txBox="1"/>
          <p:nvPr/>
        </p:nvSpPr>
        <p:spPr>
          <a:xfrm>
            <a:off x="5623560" y="1371600"/>
            <a:ext cx="2926080" cy="3063240"/>
          </a:xfrm>
          <a:prstGeom prst="rect">
            <a:avLst/>
          </a:prstGeom>
          <a:noFill/>
          <a:ln/>
        </p:spPr>
        <p:txBody>
          <a:bodyPr wrap="square" lIns="0" tIns="0" rIns="0" bIns="0" rtlCol="0" anchor="t"/>
          <a:lstStyle/>
          <a:p>
            <a:pPr indent="0" marL="0">
              <a:buNone/>
            </a:pPr>
            <a:r>
              <a:rPr lang="en-US" sz="1500" b="1" dirty="0">
                <a:solidFill>
                  <a:srgbClr val="1E2761"/>
                </a:solidFill>
                <a:latin typeface="Cambria" pitchFamily="34" charset="0"/>
                <a:ea typeface="Cambria" pitchFamily="34" charset="-122"/>
                <a:cs typeface="Cambria" pitchFamily="34" charset="-120"/>
              </a:rPr>
              <a:t>Randomised stopping</a:t>
            </a:r>
            <a:endParaRPr lang="en-US" sz="1150" dirty="0"/>
          </a:p>
          <a:p>
            <a:pPr indent="0" marL="0">
              <a:buNone/>
            </a:pPr>
            <a:r>
              <a:rPr lang="en-US" sz="1150" dirty="0">
                <a:solidFill>
                  <a:srgbClr val="1B1B1B"/>
                </a:solidFill>
                <a:latin typeface="Calibri" pitchFamily="34" charset="0"/>
                <a:ea typeface="Calibri" pitchFamily="34" charset="-122"/>
                <a:cs typeface="Calibri" pitchFamily="34" charset="-120"/>
              </a:rPr>
              <a:t> </a:t>
            </a:r>
            <a:endParaRPr lang="en-US" sz="1150" dirty="0"/>
          </a:p>
          <a:p>
            <a:pPr indent="0" marL="0">
              <a:buNone/>
            </a:pPr>
            <a:r>
              <a:rPr lang="en-US" sz="1150" dirty="0">
                <a:solidFill>
                  <a:srgbClr val="1B1B1B"/>
                </a:solidFill>
                <a:latin typeface="Calibri" pitchFamily="34" charset="0"/>
                <a:ea typeface="Calibri" pitchFamily="34" charset="-122"/>
                <a:cs typeface="Calibri" pitchFamily="34" charset="-120"/>
              </a:rPr>
              <a:t>p_j = 1{S_j&lt;K} · sigmoid((b_θ(t_j) − S_j)/(εK)),  p_N = 1</a:t>
            </a:r>
            <a:endParaRPr lang="en-US" sz="1150" dirty="0"/>
          </a:p>
          <a:p>
            <a:pPr indent="0" marL="0">
              <a:buNone/>
            </a:pPr>
            <a:r>
              <a:rPr lang="en-US" sz="1150" dirty="0">
                <a:solidFill>
                  <a:srgbClr val="1B1B1B"/>
                </a:solidFill>
                <a:latin typeface="Calibri" pitchFamily="34" charset="0"/>
                <a:ea typeface="Calibri" pitchFamily="34" charset="-122"/>
                <a:cs typeface="Calibri" pitchFamily="34" charset="-120"/>
              </a:rPr>
              <a:t>w_j = p_j · Π_{k&lt;j} (1 − p_k)</a:t>
            </a:r>
            <a:endParaRPr lang="en-US" sz="1150" dirty="0"/>
          </a:p>
          <a:p>
            <a:pPr indent="0" marL="0">
              <a:buNone/>
            </a:pPr>
            <a:r>
              <a:rPr lang="en-US" sz="1150" dirty="0">
                <a:solidFill>
                  <a:srgbClr val="1B1B1B"/>
                </a:solidFill>
                <a:latin typeface="Calibri" pitchFamily="34" charset="0"/>
                <a:ea typeface="Calibri" pitchFamily="34" charset="-122"/>
                <a:cs typeface="Calibri" pitchFamily="34" charset="-120"/>
              </a:rPr>
              <a:t>R_θ = Σ_j w_j e^(−r(t_j − t_J)) (K − S_j)⁺</a:t>
            </a:r>
            <a:endParaRPr lang="en-US" sz="1150" dirty="0"/>
          </a:p>
          <a:p>
            <a:pPr indent="0" marL="0">
              <a:buNone/>
            </a:pPr>
            <a:r>
              <a:rPr lang="en-US" sz="1150" dirty="0">
                <a:solidFill>
                  <a:srgbClr val="1B1B1B"/>
                </a:solidFill>
                <a:latin typeface="Calibri" pitchFamily="34" charset="0"/>
                <a:ea typeface="Calibri" pitchFamily="34" charset="-122"/>
                <a:cs typeface="Calibri" pitchFamily="34" charset="-120"/>
              </a:rPr>
              <a:t> </a:t>
            </a:r>
            <a:endParaRPr lang="en-US" sz="1150" dirty="0"/>
          </a:p>
          <a:p>
            <a:pPr indent="0" marL="0">
              <a:buNone/>
            </a:pPr>
            <a:r>
              <a:rPr lang="en-US" sz="1150" dirty="0">
                <a:solidFill>
                  <a:srgbClr val="5A5F6E"/>
                </a:solidFill>
                <a:latin typeface="Calibri" pitchFamily="34" charset="0"/>
                <a:ea typeface="Calibri" pitchFamily="34" charset="-122"/>
                <a:cs typeface="Calibri" pitchFamily="34" charset="-120"/>
              </a:rPr>
              <a:t>w_j is the probability of stopping first at t_j, so R_θ is the path-conditional expected payoff of a randomised rule: smooth in θ, and equal to the hard rule as ε → 0 (checked to ≤ 1e-6 $).</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Validation cannot tell the checkpoints apart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Paired validation gains vs checkpoint 0 are all within ~2 SE</a:t>
            </a:r>
            <a:endParaRPr lang="en-US" sz="1300" dirty="0"/>
          </a:p>
        </p:txBody>
      </p:sp>
      <p:pic>
        <p:nvPicPr>
          <p:cNvPr id="4" name="Image 0" descr="figures/p4_validation.png">    </p:cNvPr>
          <p:cNvPicPr>
            <a:picLocks noChangeAspect="1"/>
          </p:cNvPicPr>
          <p:nvPr/>
        </p:nvPicPr>
        <p:blipFill>
          <a:blip r:embed="rId1"/>
          <a:stretch>
            <a:fillRect/>
          </a:stretch>
        </p:blipFill>
        <p:spPr>
          <a:xfrm>
            <a:off x="457200" y="1234440"/>
            <a:ext cx="5120640" cy="2720340"/>
          </a:xfrm>
          <a:prstGeom prst="rect">
            <a:avLst/>
          </a:prstGeom>
        </p:spPr>
      </p:pic>
      <p:sp>
        <p:nvSpPr>
          <p:cNvPr id="5" name="Shape 2"/>
          <p:cNvSpPr/>
          <p:nvPr/>
        </p:nvSpPr>
        <p:spPr>
          <a:xfrm>
            <a:off x="5806440" y="1234440"/>
            <a:ext cx="2880360" cy="731520"/>
          </a:xfrm>
          <a:prstGeom prst="roundRect">
            <a:avLst>
              <a:gd name="adj" fmla="val 10000"/>
            </a:avLst>
          </a:prstGeom>
          <a:solidFill>
            <a:srgbClr val="EEF2FB"/>
          </a:solidFill>
          <a:ln w="12700">
            <a:solidFill>
              <a:srgbClr val="EEF2FB"/>
            </a:solidFill>
            <a:prstDash val="solid"/>
          </a:ln>
        </p:spPr>
      </p:sp>
      <p:sp>
        <p:nvSpPr>
          <p:cNvPr id="6" name="Text 3"/>
          <p:cNvSpPr txBox="1"/>
          <p:nvPr/>
        </p:nvSpPr>
        <p:spPr>
          <a:xfrm>
            <a:off x="5943600" y="1307592"/>
            <a:ext cx="2651760" cy="59436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Case 0: ckpt 2000</a:t>
            </a:r>
            <a:endParaRPr lang="en-US" sz="1200" dirty="0"/>
          </a:p>
          <a:p>
            <a:pPr indent="0" marL="0">
              <a:buNone/>
            </a:pPr>
            <a:r>
              <a:rPr lang="en-US" sz="1200" dirty="0">
                <a:solidFill>
                  <a:srgbClr val="5A5F6E"/>
                </a:solidFill>
                <a:latin typeface="Calibri" pitchFamily="34" charset="0"/>
                <a:ea typeface="Calibri" pitchFamily="34" charset="-122"/>
                <a:cs typeface="Calibri" pitchFamily="34" charset="-120"/>
              </a:rPr>
              <a:t>E_mean 0.069 → 0.072</a:t>
            </a:r>
            <a:endParaRPr lang="en-US" sz="1200" dirty="0"/>
          </a:p>
        </p:txBody>
      </p:sp>
      <p:sp>
        <p:nvSpPr>
          <p:cNvPr id="7" name="Shape 4"/>
          <p:cNvSpPr/>
          <p:nvPr/>
        </p:nvSpPr>
        <p:spPr>
          <a:xfrm>
            <a:off x="5806440" y="2075688"/>
            <a:ext cx="2880360" cy="731520"/>
          </a:xfrm>
          <a:prstGeom prst="roundRect">
            <a:avLst>
              <a:gd name="adj" fmla="val 10000"/>
            </a:avLst>
          </a:prstGeom>
          <a:solidFill>
            <a:srgbClr val="EEF2FB"/>
          </a:solidFill>
          <a:ln w="12700">
            <a:solidFill>
              <a:srgbClr val="EEF2FB"/>
            </a:solidFill>
            <a:prstDash val="solid"/>
          </a:ln>
        </p:spPr>
      </p:sp>
      <p:sp>
        <p:nvSpPr>
          <p:cNvPr id="8" name="Text 5"/>
          <p:cNvSpPr txBox="1"/>
          <p:nvPr/>
        </p:nvSpPr>
        <p:spPr>
          <a:xfrm>
            <a:off x="5943600" y="2148840"/>
            <a:ext cx="2651760" cy="59436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Case 1: ckpt 2000</a:t>
            </a:r>
            <a:endParaRPr lang="en-US" sz="1200" dirty="0"/>
          </a:p>
          <a:p>
            <a:pPr indent="0" marL="0">
              <a:buNone/>
            </a:pPr>
            <a:r>
              <a:rPr lang="en-US" sz="1200" dirty="0">
                <a:solidFill>
                  <a:srgbClr val="5A5F6E"/>
                </a:solidFill>
                <a:latin typeface="Calibri" pitchFamily="34" charset="0"/>
                <a:ea typeface="Calibri" pitchFamily="34" charset="-122"/>
                <a:cs typeface="Calibri" pitchFamily="34" charset="-120"/>
              </a:rPr>
              <a:t>E_mean 0.019 → 0.017</a:t>
            </a:r>
            <a:endParaRPr lang="en-US" sz="1200" dirty="0"/>
          </a:p>
        </p:txBody>
      </p:sp>
      <p:sp>
        <p:nvSpPr>
          <p:cNvPr id="9" name="Shape 6"/>
          <p:cNvSpPr/>
          <p:nvPr/>
        </p:nvSpPr>
        <p:spPr>
          <a:xfrm>
            <a:off x="5806440" y="2916936"/>
            <a:ext cx="2880360" cy="731520"/>
          </a:xfrm>
          <a:prstGeom prst="roundRect">
            <a:avLst>
              <a:gd name="adj" fmla="val 10000"/>
            </a:avLst>
          </a:prstGeom>
          <a:solidFill>
            <a:srgbClr val="EEF2FB"/>
          </a:solidFill>
          <a:ln w="12700">
            <a:solidFill>
              <a:srgbClr val="EEF2FB"/>
            </a:solidFill>
            <a:prstDash val="solid"/>
          </a:ln>
        </p:spPr>
      </p:sp>
      <p:sp>
        <p:nvSpPr>
          <p:cNvPr id="10" name="Text 7"/>
          <p:cNvSpPr txBox="1"/>
          <p:nvPr/>
        </p:nvSpPr>
        <p:spPr>
          <a:xfrm>
            <a:off x="5943600" y="2990088"/>
            <a:ext cx="2651760" cy="59436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Case 2: ckpt 1200</a:t>
            </a:r>
            <a:endParaRPr lang="en-US" sz="1200" dirty="0"/>
          </a:p>
          <a:p>
            <a:pPr indent="0" marL="0">
              <a:buNone/>
            </a:pPr>
            <a:r>
              <a:rPr lang="en-US" sz="1200" dirty="0">
                <a:solidFill>
                  <a:srgbClr val="5A5F6E"/>
                </a:solidFill>
                <a:latin typeface="Calibri" pitchFamily="34" charset="0"/>
                <a:ea typeface="Calibri" pitchFamily="34" charset="-122"/>
                <a:cs typeface="Calibri" pitchFamily="34" charset="-120"/>
              </a:rPr>
              <a:t>E_mean 0.064 → 0.062</a:t>
            </a:r>
            <a:endParaRPr lang="en-US" sz="1200" dirty="0"/>
          </a:p>
        </p:txBody>
      </p:sp>
      <p:sp>
        <p:nvSpPr>
          <p:cNvPr id="11" name="Shape 8"/>
          <p:cNvSpPr/>
          <p:nvPr/>
        </p:nvSpPr>
        <p:spPr>
          <a:xfrm>
            <a:off x="5806440" y="3758184"/>
            <a:ext cx="2880360" cy="731520"/>
          </a:xfrm>
          <a:prstGeom prst="roundRect">
            <a:avLst>
              <a:gd name="adj" fmla="val 10000"/>
            </a:avLst>
          </a:prstGeom>
          <a:solidFill>
            <a:srgbClr val="EEF2FB"/>
          </a:solidFill>
          <a:ln w="12700">
            <a:solidFill>
              <a:srgbClr val="EEF2FB"/>
            </a:solidFill>
            <a:prstDash val="solid"/>
          </a:ln>
        </p:spPr>
      </p:sp>
      <p:sp>
        <p:nvSpPr>
          <p:cNvPr id="12" name="Text 9"/>
          <p:cNvSpPr txBox="1"/>
          <p:nvPr/>
        </p:nvSpPr>
        <p:spPr>
          <a:xfrm>
            <a:off x="5943600" y="3831336"/>
            <a:ext cx="2651760" cy="594360"/>
          </a:xfrm>
          <a:prstGeom prst="rect">
            <a:avLst/>
          </a:prstGeom>
          <a:noFill/>
          <a:ln/>
        </p:spPr>
        <p:txBody>
          <a:bodyPr wrap="square" lIns="0" tIns="0" rIns="0" bIns="0" rtlCol="0" anchor="t"/>
          <a:lstStyle/>
          <a:p>
            <a:pPr indent="0" marL="0">
              <a:buNone/>
            </a:pPr>
            <a:r>
              <a:rPr lang="en-US" sz="1200" b="1" dirty="0">
                <a:solidFill>
                  <a:srgbClr val="1E2761"/>
                </a:solidFill>
                <a:latin typeface="Calibri" pitchFamily="34" charset="0"/>
                <a:ea typeface="Calibri" pitchFamily="34" charset="-122"/>
                <a:cs typeface="Calibri" pitchFamily="34" charset="-120"/>
              </a:rPr>
              <a:t>Case 3: ckpt 2400</a:t>
            </a:r>
            <a:endParaRPr lang="en-US" sz="1200" dirty="0"/>
          </a:p>
          <a:p>
            <a:pPr indent="0" marL="0">
              <a:buNone/>
            </a:pPr>
            <a:r>
              <a:rPr lang="en-US" sz="1200" dirty="0">
                <a:solidFill>
                  <a:srgbClr val="EB6834"/>
                </a:solidFill>
                <a:latin typeface="Calibri" pitchFamily="34" charset="0"/>
                <a:ea typeface="Calibri" pitchFamily="34" charset="-122"/>
                <a:cs typeface="Calibri" pitchFamily="34" charset="-120"/>
              </a:rPr>
              <a:t>E_mean 0.029 → 0.043</a:t>
            </a:r>
            <a:endParaRPr lang="en-US" sz="1200" dirty="0"/>
          </a:p>
        </p:txBody>
      </p:sp>
      <p:sp>
        <p:nvSpPr>
          <p:cNvPr id="13" name="Text 10"/>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i="1" dirty="0">
                <a:solidFill>
                  <a:srgbClr val="5A5F6E"/>
                </a:solidFill>
                <a:latin typeface="Calibri" pitchFamily="34" charset="0"/>
                <a:ea typeface="Calibri" pitchFamily="34" charset="-122"/>
                <a:cs typeface="Calibri" pitchFamily="34" charset="-120"/>
              </a:rPr>
              <a:t>Checkpoint 0 was never selected, yet payoff training barely changed the boundary error in cases 0–2 and worsened it in case 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Three boundaries (N = 360)</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Figure 1 — reference (blue), LS (orange), selected neural policy (green), N = 180 reference dashed</a:t>
            </a:r>
            <a:endParaRPr lang="en-US" sz="1300" dirty="0"/>
          </a:p>
        </p:txBody>
      </p:sp>
      <p:pic>
        <p:nvPicPr>
          <p:cNvPr id="4" name="Image 0" descr="figures/fig1_boundaries.png">    </p:cNvPr>
          <p:cNvPicPr>
            <a:picLocks noChangeAspect="1"/>
          </p:cNvPicPr>
          <p:nvPr/>
        </p:nvPicPr>
        <p:blipFill>
          <a:blip r:embed="rId1"/>
          <a:stretch>
            <a:fillRect/>
          </a:stretch>
        </p:blipFill>
        <p:spPr>
          <a:xfrm>
            <a:off x="457200" y="1188720"/>
            <a:ext cx="8229600" cy="32918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Around the final dividend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Figure 2 — case 3, |t − d₃| ≤ 1/24</a:t>
            </a:r>
            <a:endParaRPr lang="en-US" sz="1300" dirty="0"/>
          </a:p>
        </p:txBody>
      </p:sp>
      <p:pic>
        <p:nvPicPr>
          <p:cNvPr id="4" name="Image 0" descr="figures/fig2_final_dividend.png">    </p:cNvPr>
          <p:cNvPicPr>
            <a:picLocks noChangeAspect="1"/>
          </p:cNvPicPr>
          <p:nvPr/>
        </p:nvPicPr>
        <p:blipFill>
          <a:blip r:embed="rId1"/>
          <a:stretch>
            <a:fillRect/>
          </a:stretch>
        </p:blipFill>
        <p:spPr>
          <a:xfrm>
            <a:off x="457200" y="1188720"/>
            <a:ext cx="5120640" cy="3138457"/>
          </a:xfrm>
          <a:prstGeom prst="rect">
            <a:avLst/>
          </a:prstGeom>
        </p:spPr>
      </p:pic>
      <p:sp>
        <p:nvSpPr>
          <p:cNvPr id="5" name="Text 2"/>
          <p:cNvSpPr txBox="1"/>
          <p:nvPr/>
        </p:nvSpPr>
        <p:spPr>
          <a:xfrm>
            <a:off x="5760720" y="1280160"/>
            <a:ext cx="2926080" cy="32004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B1B1B"/>
                </a:solidFill>
                <a:latin typeface="Calibri" pitchFamily="34" charset="0"/>
                <a:ea typeface="Calibri" pitchFamily="34" charset="-122"/>
                <a:cs typeface="Calibri" pitchFamily="34" charset="-120"/>
              </a:rPr>
              <a:t>Right of the dotted line = before d₃ in calendar time: the reference sits exactly on the Part 1 bound.</a:t>
            </a:r>
            <a:endParaRPr lang="en-US" sz="1200" dirty="0"/>
          </a:p>
          <a:p>
            <a:pPr marL="342900" indent="-342900">
              <a:spcAft>
                <a:spcPts val="600"/>
              </a:spcAft>
              <a:buSzPct val="100000"/>
              <a:buChar char="•"/>
            </a:pPr>
            <a:r>
              <a:rPr lang="en-US" sz="1200" dirty="0">
                <a:solidFill>
                  <a:srgbClr val="1B1B1B"/>
                </a:solidFill>
                <a:latin typeface="Calibri" pitchFamily="34" charset="0"/>
                <a:ea typeface="Calibri" pitchFamily="34" charset="-122"/>
                <a:cs typeface="Calibri" pitchFamily="34" charset="-120"/>
              </a:rPr>
              <a:t>LS and NN stay below the cap there: the premium δs − K(1 − e^(−rε)) is only cents.</a:t>
            </a:r>
            <a:endParaRPr lang="en-US" sz="1200" dirty="0"/>
          </a:p>
          <a:p>
            <a:pPr marL="342900" indent="-342900">
              <a:spcAft>
                <a:spcPts val="600"/>
              </a:spcAft>
              <a:buSzPct val="100000"/>
              <a:buChar char="•"/>
            </a:pPr>
            <a:r>
              <a:rPr lang="en-US" sz="1200" dirty="0">
                <a:solidFill>
                  <a:srgbClr val="1B1B1B"/>
                </a:solidFill>
                <a:latin typeface="Calibri" pitchFamily="34" charset="0"/>
                <a:ea typeface="Calibri" pitchFamily="34" charset="-122"/>
                <a:cs typeface="Calibri" pitchFamily="34" charset="-120"/>
              </a:rPr>
              <a:t>Left = after d₃: no dividend remains and the boundary rises to K; LS is ~0.12K low, the NN only ~0.02K.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Large boundary error, small price error</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Part 5 prices — 50,000 independent paths per start, common paths across policies, float64</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120640" cy="914400"/>
        </p:xfrm>
        <a:graphic>
          <a:graphicData uri="http://schemas.openxmlformats.org/drawingml/2006/table">
            <a:tbl>
              <a:tblPr/>
              <a:tblGrid>
                <a:gridCol w="548640"/>
                <a:gridCol w="548640"/>
                <a:gridCol w="1097280"/>
                <a:gridCol w="1463040"/>
                <a:gridCol w="14630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S₀</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LS (SE)</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NN (SE)</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r>
              <a:tr h="329184">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20.8688</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20.661 (0.056)</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20.632 (0.056)</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8.8078</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8.640 (0.050)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8.623 (0.050)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22.1096</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22.017 (0.062)</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22.029 (0.058)</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10.1264</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10.043 (0.054)</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10.048 (0.053)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20.8710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20.601 (0.055)</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20.633 (0.055)</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8.8091</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8.586 (0.050)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8.593 (0.050)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22.1102</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22.087 (0.063)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22.027 (0.055)</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10.1270</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10.072 (0.055)</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indent="0" marL="0">
                        <a:buNone/>
                      </a:pPr>
                      <a:r>
                        <a:rPr lang="en-US" sz="1200" dirty="0">
                          <a:solidFill>
                            <a:srgbClr val="1B1B1B"/>
                          </a:solidFill>
                          <a:latin typeface="Calibri" pitchFamily="34" charset="0"/>
                          <a:ea typeface="Calibri" pitchFamily="34" charset="-122"/>
                          <a:cs typeface="Calibri" pitchFamily="34" charset="-120"/>
                        </a:rPr>
                        <a:t>10.068 (0.052)</a:t>
                      </a:r>
                      <a:endParaRPr lang="en-US" sz="1200" dirty="0">
                        <a:latin typeface="Calibri" charset="0"/>
                        <a:ea typeface="Calibri" charset="0"/>
                        <a:cs typeface="Calibri" charset="0"/>
                      </a:endParaRPr>
                    </a:p>
                  </a:txBody>
                  <a:tcPr marL="91440" marR="91440" marT="45720" marB="45720">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r>
            </a:tbl>
          </a:graphicData>
        </a:graphic>
      </p:graphicFrame>
      <p:sp>
        <p:nvSpPr>
          <p:cNvPr id="5" name="Shape 2"/>
          <p:cNvSpPr/>
          <p:nvPr/>
        </p:nvSpPr>
        <p:spPr>
          <a:xfrm>
            <a:off x="5806440" y="1280160"/>
            <a:ext cx="2880360" cy="1051560"/>
          </a:xfrm>
          <a:prstGeom prst="roundRect">
            <a:avLst>
              <a:gd name="adj" fmla="val 6957"/>
            </a:avLst>
          </a:prstGeom>
          <a:solidFill>
            <a:srgbClr val="EEF2FB"/>
          </a:solidFill>
          <a:ln w="12700">
            <a:solidFill>
              <a:srgbClr val="EEF2FB"/>
            </a:solidFill>
            <a:prstDash val="solid"/>
          </a:ln>
        </p:spPr>
      </p:sp>
      <p:sp>
        <p:nvSpPr>
          <p:cNvPr id="6" name="Text 3"/>
          <p:cNvSpPr txBox="1"/>
          <p:nvPr/>
        </p:nvSpPr>
        <p:spPr>
          <a:xfrm>
            <a:off x="5943600" y="1353312"/>
            <a:ext cx="2606040" cy="548640"/>
          </a:xfrm>
          <a:prstGeom prst="rect">
            <a:avLst/>
          </a:prstGeom>
          <a:noFill/>
          <a:ln/>
        </p:spPr>
        <p:txBody>
          <a:bodyPr wrap="square" lIns="0" tIns="0" rIns="0" bIns="0" rtlCol="0" anchor="ctr"/>
          <a:lstStyle/>
          <a:p>
            <a:pPr indent="0" marL="0">
              <a:buNone/>
            </a:pPr>
            <a:r>
              <a:rPr lang="en-US" sz="2400" b="1" dirty="0">
                <a:solidFill>
                  <a:srgbClr val="EB6834"/>
                </a:solidFill>
                <a:latin typeface="Cambria" pitchFamily="34" charset="0"/>
                <a:ea typeface="Cambria" pitchFamily="34" charset="-122"/>
                <a:cs typeface="Cambria" pitchFamily="34" charset="-120"/>
              </a:rPr>
              <a:t>3–7 % | 2–7 %</a:t>
            </a:r>
            <a:endParaRPr lang="en-US" sz="2400" dirty="0"/>
          </a:p>
        </p:txBody>
      </p:sp>
      <p:sp>
        <p:nvSpPr>
          <p:cNvPr id="7" name="Text 4"/>
          <p:cNvSpPr txBox="1"/>
          <p:nvPr/>
        </p:nvSpPr>
        <p:spPr>
          <a:xfrm>
            <a:off x="5943600" y="1883664"/>
            <a:ext cx="260604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mean boundary error E_mean of K: LS | NN</a:t>
            </a:r>
            <a:endParaRPr lang="en-US" sz="1100" dirty="0"/>
          </a:p>
        </p:txBody>
      </p:sp>
      <p:sp>
        <p:nvSpPr>
          <p:cNvPr id="8" name="Shape 5"/>
          <p:cNvSpPr/>
          <p:nvPr/>
        </p:nvSpPr>
        <p:spPr>
          <a:xfrm>
            <a:off x="5806440" y="2468880"/>
            <a:ext cx="2880360" cy="1051560"/>
          </a:xfrm>
          <a:prstGeom prst="roundRect">
            <a:avLst>
              <a:gd name="adj" fmla="val 6957"/>
            </a:avLst>
          </a:prstGeom>
          <a:solidFill>
            <a:srgbClr val="EEF2FB"/>
          </a:solidFill>
          <a:ln w="12700">
            <a:solidFill>
              <a:srgbClr val="EEF2FB"/>
            </a:solidFill>
            <a:prstDash val="solid"/>
          </a:ln>
        </p:spPr>
      </p:sp>
      <p:sp>
        <p:nvSpPr>
          <p:cNvPr id="9" name="Text 6"/>
          <p:cNvSpPr txBox="1"/>
          <p:nvPr/>
        </p:nvSpPr>
        <p:spPr>
          <a:xfrm>
            <a:off x="5943600" y="2542032"/>
            <a:ext cx="2606040" cy="54864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0.02–0.25 $</a:t>
            </a:r>
            <a:endParaRPr lang="en-US" sz="2400" dirty="0"/>
          </a:p>
        </p:txBody>
      </p:sp>
      <p:sp>
        <p:nvSpPr>
          <p:cNvPr id="10" name="Text 7"/>
          <p:cNvSpPr txBox="1"/>
          <p:nvPr/>
        </p:nvSpPr>
        <p:spPr>
          <a:xfrm>
            <a:off x="5943600" y="3072384"/>
            <a:ext cx="260604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paired LS price loss vs the reference boundary rule (same paths)</a:t>
            </a:r>
            <a:endParaRPr lang="en-US" sz="1100" dirty="0"/>
          </a:p>
        </p:txBody>
      </p:sp>
      <p:sp>
        <p:nvSpPr>
          <p:cNvPr id="11" name="Text 8"/>
          <p:cNvSpPr txBox="1"/>
          <p:nvPr/>
        </p:nvSpPr>
        <p:spPr>
          <a:xfrm>
            <a:off x="5806440" y="3657600"/>
            <a:ext cx="2880360" cy="1005840"/>
          </a:xfrm>
          <a:prstGeom prst="rect">
            <a:avLst/>
          </a:prstGeom>
          <a:noFill/>
          <a:ln/>
        </p:spPr>
        <p:txBody>
          <a:bodyPr wrap="square" lIns="0" tIns="0" rIns="0" bIns="0" rtlCol="0" anchor="t"/>
          <a:lstStyle/>
          <a:p>
            <a:pPr indent="0" marL="0">
              <a:buNone/>
            </a:pPr>
            <a:r>
              <a:rPr lang="en-US" sz="1050" dirty="0">
                <a:solidFill>
                  <a:srgbClr val="5A5F6E"/>
                </a:solidFill>
                <a:latin typeface="Calibri" pitchFamily="34" charset="0"/>
                <a:ea typeface="Calibri" pitchFamily="34" charset="-122"/>
                <a:cs typeface="Calibri" pitchFamily="34" charset="-120"/>
              </a:rPr>
              <a:t>S₀ = 60 omitted: every policy exercises at once (value 40) except the case-3 NN, which loses 0.045 $ there. Smooth pasting makes price error roughly second order in boundary error.</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Too early costs, a bit later is free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i="1" dirty="0">
                <a:solidFill>
                  <a:srgbClr val="5A5F6E"/>
                </a:solidFill>
                <a:latin typeface="Calibri" pitchFamily="34" charset="0"/>
                <a:ea typeface="Calibri" pitchFamily="34" charset="-122"/>
                <a:cs typeface="Calibri" pitchFamily="34" charset="-120"/>
              </a:rPr>
              <a:t>Part 5.3 — case 3, S₀ = 100: shift the NN boundary by aK, cap at U_j, floor at 0</a:t>
            </a:r>
            <a:endParaRPr lang="en-US" sz="1300" dirty="0"/>
          </a:p>
        </p:txBody>
      </p:sp>
      <p:pic>
        <p:nvPicPr>
          <p:cNvPr id="4" name="Image 0" descr="figures/p5_perturbation.png">    </p:cNvPr>
          <p:cNvPicPr>
            <a:picLocks noChangeAspect="1"/>
          </p:cNvPicPr>
          <p:nvPr/>
        </p:nvPicPr>
        <p:blipFill>
          <a:blip r:embed="rId1"/>
          <a:stretch>
            <a:fillRect/>
          </a:stretch>
        </p:blipFill>
        <p:spPr>
          <a:xfrm>
            <a:off x="457200" y="1188720"/>
            <a:ext cx="5120640" cy="2808093"/>
          </a:xfrm>
          <a:prstGeom prst="rect">
            <a:avLst/>
          </a:prstGeom>
        </p:spPr>
      </p:pic>
      <p:sp>
        <p:nvSpPr>
          <p:cNvPr id="5" name="Shape 2"/>
          <p:cNvSpPr/>
          <p:nvPr/>
        </p:nvSpPr>
        <p:spPr>
          <a:xfrm>
            <a:off x="5806440" y="1188720"/>
            <a:ext cx="2880360" cy="1051560"/>
          </a:xfrm>
          <a:prstGeom prst="roundRect">
            <a:avLst>
              <a:gd name="adj" fmla="val 6957"/>
            </a:avLst>
          </a:prstGeom>
          <a:solidFill>
            <a:srgbClr val="EEF2FB"/>
          </a:solidFill>
          <a:ln w="12700">
            <a:solidFill>
              <a:srgbClr val="EEF2FB"/>
            </a:solidFill>
            <a:prstDash val="solid"/>
          </a:ln>
        </p:spPr>
      </p:sp>
      <p:sp>
        <p:nvSpPr>
          <p:cNvPr id="6" name="Text 3"/>
          <p:cNvSpPr txBox="1"/>
          <p:nvPr/>
        </p:nvSpPr>
        <p:spPr>
          <a:xfrm>
            <a:off x="5943600" y="1261872"/>
            <a:ext cx="2606040" cy="54864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+0.022 $</a:t>
            </a:r>
            <a:endParaRPr lang="en-US" sz="2400" dirty="0"/>
          </a:p>
        </p:txBody>
      </p:sp>
      <p:sp>
        <p:nvSpPr>
          <p:cNvPr id="7" name="Text 4"/>
          <p:cNvSpPr txBox="1"/>
          <p:nvPr/>
        </p:nvSpPr>
        <p:spPr>
          <a:xfrm>
            <a:off x="5943600" y="1792224"/>
            <a:ext cx="260604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a = −0.02: SE 0.011; 22% of paths now exercise later</a:t>
            </a:r>
            <a:endParaRPr lang="en-US" sz="1100" dirty="0"/>
          </a:p>
        </p:txBody>
      </p:sp>
      <p:sp>
        <p:nvSpPr>
          <p:cNvPr id="8" name="Shape 5"/>
          <p:cNvSpPr/>
          <p:nvPr/>
        </p:nvSpPr>
        <p:spPr>
          <a:xfrm>
            <a:off x="5806440" y="2377440"/>
            <a:ext cx="2880360" cy="1051560"/>
          </a:xfrm>
          <a:prstGeom prst="roundRect">
            <a:avLst>
              <a:gd name="adj" fmla="val 6957"/>
            </a:avLst>
          </a:prstGeom>
          <a:solidFill>
            <a:srgbClr val="EEF2FB"/>
          </a:solidFill>
          <a:ln w="12700">
            <a:solidFill>
              <a:srgbClr val="EEF2FB"/>
            </a:solidFill>
            <a:prstDash val="solid"/>
          </a:ln>
        </p:spPr>
      </p:sp>
      <p:sp>
        <p:nvSpPr>
          <p:cNvPr id="9" name="Text 6"/>
          <p:cNvSpPr txBox="1"/>
          <p:nvPr/>
        </p:nvSpPr>
        <p:spPr>
          <a:xfrm>
            <a:off x="5943600" y="2450592"/>
            <a:ext cx="2606040" cy="548640"/>
          </a:xfrm>
          <a:prstGeom prst="rect">
            <a:avLst/>
          </a:prstGeom>
          <a:noFill/>
          <a:ln/>
        </p:spPr>
        <p:txBody>
          <a:bodyPr wrap="square" lIns="0" tIns="0" rIns="0" bIns="0" rtlCol="0" anchor="ctr"/>
          <a:lstStyle/>
          <a:p>
            <a:pPr indent="0" marL="0">
              <a:buNone/>
            </a:pPr>
            <a:r>
              <a:rPr lang="en-US" sz="2400" b="1" dirty="0">
                <a:solidFill>
                  <a:srgbClr val="EB6834"/>
                </a:solidFill>
                <a:latin typeface="Cambria" pitchFamily="34" charset="0"/>
                <a:ea typeface="Cambria" pitchFamily="34" charset="-122"/>
                <a:cs typeface="Cambria" pitchFamily="34" charset="-120"/>
              </a:rPr>
              <a:t>-0.016 $</a:t>
            </a:r>
            <a:endParaRPr lang="en-US" sz="2400" dirty="0"/>
          </a:p>
        </p:txBody>
      </p:sp>
      <p:sp>
        <p:nvSpPr>
          <p:cNvPr id="10" name="Text 7"/>
          <p:cNvSpPr txBox="1"/>
          <p:nvPr/>
        </p:nvSpPr>
        <p:spPr>
          <a:xfrm>
            <a:off x="5943600" y="2980944"/>
            <a:ext cx="2606040" cy="411480"/>
          </a:xfrm>
          <a:prstGeom prst="rect">
            <a:avLst/>
          </a:prstGeom>
          <a:noFill/>
          <a:ln/>
        </p:spPr>
        <p:txBody>
          <a:bodyPr wrap="square" lIns="0" tIns="0" rIns="0" bIns="0" rtlCol="0" anchor="t"/>
          <a:lstStyle/>
          <a:p>
            <a:pPr indent="0" marL="0">
              <a:buNone/>
            </a:pPr>
            <a:r>
              <a:rPr lang="en-US" sz="1100" dirty="0">
                <a:solidFill>
                  <a:srgbClr val="5A5F6E"/>
                </a:solidFill>
                <a:latin typeface="Calibri" pitchFamily="34" charset="0"/>
                <a:ea typeface="Calibri" pitchFamily="34" charset="-122"/>
                <a:cs typeface="Calibri" pitchFamily="34" charset="-120"/>
              </a:rPr>
              <a:t>a = +0.02: SE 0.011; cap binds on 148 of 360 dates</a:t>
            </a:r>
            <a:endParaRPr lang="en-US" sz="1100" dirty="0"/>
          </a:p>
        </p:txBody>
      </p:sp>
      <p:sp>
        <p:nvSpPr>
          <p:cNvPr id="11" name="Text 8"/>
          <p:cNvSpPr txBox="1"/>
          <p:nvPr/>
        </p:nvSpPr>
        <p:spPr>
          <a:xfrm>
            <a:off x="5806440" y="3566160"/>
            <a:ext cx="2880360" cy="1143000"/>
          </a:xfrm>
          <a:prstGeom prst="rect">
            <a:avLst/>
          </a:prstGeom>
          <a:noFill/>
          <a:ln/>
        </p:spPr>
        <p:txBody>
          <a:bodyPr wrap="square" lIns="0" tIns="0" rIns="0" bIns="0" rtlCol="0" anchor="t"/>
          <a:lstStyle/>
          <a:p>
            <a:pPr indent="0" marL="0">
              <a:buNone/>
            </a:pPr>
            <a:r>
              <a:rPr lang="en-US" sz="1050" dirty="0">
                <a:solidFill>
                  <a:srgbClr val="5A5F6E"/>
                </a:solidFill>
                <a:latin typeface="Calibri" pitchFamily="34" charset="0"/>
                <a:ea typeface="Calibri" pitchFamily="34" charset="-122"/>
                <a:cs typeface="Calibri" pitchFamily="34" charset="-120"/>
              </a:rPr>
              <a:t>Only paths entering the shifted band change decision; the cap absorbs much of an upward shift (applied mean shift 0.013K). The NN overshoots just after d₁, so exercising earlier hurts and waiting slightly longer helps.</a:t>
            </a:r>
            <a:endParaRPr lang="en-US" sz="1050" dirty="0"/>
          </a:p>
        </p:txBody>
      </p:sp>
      <p:sp>
        <p:nvSpPr>
          <p:cNvPr id="12" name="Text 9"/>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i="1" dirty="0">
                <a:solidFill>
                  <a:srgbClr val="5A5F6E"/>
                </a:solidFill>
                <a:latin typeface="Calibri" pitchFamily="34" charset="0"/>
                <a:ea typeface="Calibri" pitchFamily="34" charset="-122"/>
                <a:cs typeface="Calibri" pitchFamily="34" charset="-120"/>
              </a:rPr>
              <a:t>Dots: the assignment's shifts (95% paired intervals). Line and band: our finer supplementary sweep on the same 50,000 paths.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How accurately must the boundary be learned?</a:t>
            </a:r>
            <a:endParaRPr lang="en-US" sz="2800" dirty="0"/>
          </a:p>
        </p:txBody>
      </p:sp>
      <p:sp>
        <p:nvSpPr>
          <p:cNvPr id="3" name="Shape 1"/>
          <p:cNvSpPr/>
          <p:nvPr/>
        </p:nvSpPr>
        <p:spPr>
          <a:xfrm>
            <a:off x="548640" y="1325880"/>
            <a:ext cx="384048" cy="384048"/>
          </a:xfrm>
          <a:prstGeom prst="ellipse">
            <a:avLst/>
          </a:prstGeom>
          <a:solidFill>
            <a:srgbClr val="EB6834"/>
          </a:solidFill>
          <a:ln/>
        </p:spPr>
      </p:sp>
      <p:sp>
        <p:nvSpPr>
          <p:cNvPr id="4" name="Text 2"/>
          <p:cNvSpPr txBox="1"/>
          <p:nvPr/>
        </p:nvSpPr>
        <p:spPr>
          <a:xfrm>
            <a:off x="548640" y="13258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097280" y="1252728"/>
            <a:ext cx="7498080" cy="5943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Less than it looks  </a:t>
            </a:r>
            <a:pPr indent="0" marL="0">
              <a:buNone/>
            </a:pPr>
            <a:r>
              <a:rPr lang="en-US" sz="1400" dirty="0">
                <a:solidFill>
                  <a:srgbClr val="CADCFC"/>
                </a:solidFill>
                <a:latin typeface="Calibri" pitchFamily="34" charset="0"/>
                <a:ea typeface="Calibri" pitchFamily="34" charset="-122"/>
                <a:cs typeface="Calibri" pitchFamily="34" charset="-120"/>
              </a:rPr>
              <a:t>2–7% mean boundary error costs cents to ~0.25 $: the value is flat near the optimal threshold (smooth pasting).</a:t>
            </a:r>
            <a:endParaRPr lang="en-US" sz="1400" dirty="0"/>
          </a:p>
        </p:txBody>
      </p:sp>
      <p:sp>
        <p:nvSpPr>
          <p:cNvPr id="6" name="Shape 4"/>
          <p:cNvSpPr/>
          <p:nvPr/>
        </p:nvSpPr>
        <p:spPr>
          <a:xfrm>
            <a:off x="548640" y="2057400"/>
            <a:ext cx="384048" cy="384048"/>
          </a:xfrm>
          <a:prstGeom prst="ellipse">
            <a:avLst/>
          </a:prstGeom>
          <a:solidFill>
            <a:srgbClr val="EB6834"/>
          </a:solidFill>
          <a:ln/>
        </p:spPr>
      </p:sp>
      <p:sp>
        <p:nvSpPr>
          <p:cNvPr id="7" name="Text 5"/>
          <p:cNvSpPr txBox="1"/>
          <p:nvPr/>
        </p:nvSpPr>
        <p:spPr>
          <a:xfrm>
            <a:off x="548640" y="20574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1097280" y="1984248"/>
            <a:ext cx="7498080" cy="5943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Where paths decide  </a:t>
            </a:r>
            <a:pPr indent="0" marL="0">
              <a:buNone/>
            </a:pPr>
            <a:r>
              <a:rPr lang="en-US" sz="1400" dirty="0">
                <a:solidFill>
                  <a:srgbClr val="CADCFC"/>
                </a:solidFill>
                <a:latin typeface="Calibri" pitchFamily="34" charset="0"/>
                <a:ea typeface="Calibri" pitchFamily="34" charset="-122"/>
                <a:cs typeface="Calibri" pitchFamily="34" charset="-120"/>
              </a:rPr>
              <a:t>errors matter where paths cross the boundary: the case-3 NN has the smaller max error but the larger price loss.</a:t>
            </a:r>
            <a:endParaRPr lang="en-US" sz="1400" dirty="0"/>
          </a:p>
        </p:txBody>
      </p:sp>
      <p:sp>
        <p:nvSpPr>
          <p:cNvPr id="9" name="Shape 7"/>
          <p:cNvSpPr/>
          <p:nvPr/>
        </p:nvSpPr>
        <p:spPr>
          <a:xfrm>
            <a:off x="548640" y="2788920"/>
            <a:ext cx="384048" cy="384048"/>
          </a:xfrm>
          <a:prstGeom prst="ellipse">
            <a:avLst/>
          </a:prstGeom>
          <a:solidFill>
            <a:srgbClr val="EB6834"/>
          </a:solidFill>
          <a:ln/>
        </p:spPr>
      </p:sp>
      <p:sp>
        <p:nvSpPr>
          <p:cNvPr id="10" name="Text 8"/>
          <p:cNvSpPr txBox="1"/>
          <p:nvPr/>
        </p:nvSpPr>
        <p:spPr>
          <a:xfrm>
            <a:off x="548640" y="2788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1" name="Text 9"/>
          <p:cNvSpPr txBox="1"/>
          <p:nvPr/>
        </p:nvSpPr>
        <p:spPr>
          <a:xfrm>
            <a:off x="1097280" y="2715768"/>
            <a:ext cx="7498080" cy="5943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Structure beats fitting  </a:t>
            </a:r>
            <a:pPr indent="0" marL="0">
              <a:buNone/>
            </a:pPr>
            <a:r>
              <a:rPr lang="en-US" sz="1400" dirty="0">
                <a:solidFill>
                  <a:srgbClr val="CADCFC"/>
                </a:solidFill>
                <a:latin typeface="Calibri" pitchFamily="34" charset="0"/>
                <a:ea typeface="Calibri" pitchFamily="34" charset="-122"/>
                <a:cs typeface="Calibri" pitchFamily="34" charset="-120"/>
              </a:rPr>
              <a:t>the Part 1 cap gives the pre-dividend boundary exactly; both learners only fill in the rest.</a:t>
            </a:r>
            <a:endParaRPr lang="en-US" sz="1400" dirty="0"/>
          </a:p>
        </p:txBody>
      </p:sp>
      <p:sp>
        <p:nvSpPr>
          <p:cNvPr id="12" name="Shape 10"/>
          <p:cNvSpPr/>
          <p:nvPr/>
        </p:nvSpPr>
        <p:spPr>
          <a:xfrm>
            <a:off x="548640" y="3520440"/>
            <a:ext cx="384048" cy="384048"/>
          </a:xfrm>
          <a:prstGeom prst="ellipse">
            <a:avLst/>
          </a:prstGeom>
          <a:solidFill>
            <a:srgbClr val="EB6834"/>
          </a:solidFill>
          <a:ln/>
        </p:spPr>
      </p:sp>
      <p:sp>
        <p:nvSpPr>
          <p:cNvPr id="13" name="Text 11"/>
          <p:cNvSpPr txBox="1"/>
          <p:nvPr/>
        </p:nvSpPr>
        <p:spPr>
          <a:xfrm>
            <a:off x="548640" y="3520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1097280" y="3447288"/>
            <a:ext cx="7498080" cy="5943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Selection is noisy  </a:t>
            </a:r>
            <a:pPr indent="0" marL="0">
              <a:buNone/>
            </a:pPr>
            <a:r>
              <a:rPr lang="en-US" sz="1400" dirty="0">
                <a:solidFill>
                  <a:srgbClr val="CADCFC"/>
                </a:solidFill>
                <a:latin typeface="Calibri" pitchFamily="34" charset="0"/>
                <a:ea typeface="Calibri" pitchFamily="34" charset="-122"/>
                <a:cs typeface="Calibri" pitchFamily="34" charset="-120"/>
              </a:rPr>
              <a:t>validation cannot separate checkpoints (all within ~2 SE); no fitted price exceeds the reference (max z = -0.37).</a:t>
            </a:r>
            <a:endParaRPr lang="en-US" sz="1400" dirty="0"/>
          </a:p>
        </p:txBody>
      </p:sp>
      <p:sp>
        <p:nvSpPr>
          <p:cNvPr id="15" name="Text 13"/>
          <p:cNvSpPr txBox="1"/>
          <p:nvPr/>
        </p:nvSpPr>
        <p:spPr>
          <a:xfrm>
            <a:off x="548640" y="4434840"/>
            <a:ext cx="8046720" cy="365760"/>
          </a:xfrm>
          <a:prstGeom prst="rect">
            <a:avLst/>
          </a:prstGeom>
          <a:noFill/>
          <a:ln/>
        </p:spPr>
        <p:txBody>
          <a:bodyPr wrap="square" lIns="0" tIns="0" rIns="0" bIns="0" rtlCol="0" anchor="ctr"/>
          <a:lstStyle/>
          <a:p>
            <a:pPr indent="0" marL="0">
              <a:buNone/>
            </a:pPr>
            <a:r>
              <a:rPr lang="en-US" sz="1100" i="1" dirty="0">
                <a:solidFill>
                  <a:srgbClr val="CADCFC"/>
                </a:solidFill>
                <a:latin typeface="Calibri" pitchFamily="34" charset="0"/>
                <a:ea typeface="Calibri" pitchFamily="34" charset="-122"/>
                <a:cs typeface="Calibri" pitchFamily="34" charset="-120"/>
              </a:rPr>
              <a:t>Reference: supplied reference_results.npz (--verify passed); draws follow the supplied README; our own solver agrees to ~1e-5 $.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Learning an American Put Exercise Boundary</dc:title>
  <dc:subject>PptxGenJS Presentation</dc:subject>
  <dc:creator>PptxGenJS</dc:creator>
  <cp:lastModifiedBy>PptxGenJS</cp:lastModifiedBy>
  <cp:revision>1</cp:revision>
  <dcterms:created xsi:type="dcterms:W3CDTF">2026-09-27T15:46:47Z</dcterms:created>
  <dcterms:modified xsi:type="dcterms:W3CDTF">2026-09-27T15:46:47Z</dcterms:modified>
</cp:coreProperties>
</file>