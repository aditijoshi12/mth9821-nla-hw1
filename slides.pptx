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Draft deck. Parts 1-3 are complete; Parts 4-5 are placeholders. The reference is our own grid solver until the supplied reference_solver.py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numbers use the risk-neutral measure. Calendar time runs right to left on every boundary plot because the horizontal axis is time remaining.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put, exercising just after the jump pays delta*s more with no time elapsed. For the call the intrinsic value falls at the jump, so the call must test exercise before applying the dividend.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Waiting until d+ and exercising gives V &gt;= K e^{-r eps} - (1-delta) s. For small s exercise at d+ is nearly certain, so the bound is attained: the boundary lies on the cap for about 0.13 years before each dividend.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stat shows why the proof fixes a common stopping time before comparing payoffs. The reference diagnostics are exact zeros; after d3 the two problems are identical.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 refinement barely moves anything because the kernel integrates the lognormal step exactly. More exercise dates raise the value by ~1e-3 dollars and move the boundary by ~0.3 dollars, two orders of magnitude above the refinement changes.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draw order must be checked against the supplied README before submission; changing it changes every Monte Carlo number but not the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clip upper bound is the most any continuation can be worth in time-zero dollars, since the next exercise is at t_{j+1} and pays at most K. Replaying the frozen rule reproduces the backward targets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Nearly every date has two positive-to-negative crossings. The rule defines a single interval containing all smaller prices, which is the correct economic shape even though the polynomial itself says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Becker et al. (2019): one network per date, stop/continue relaxed to a logistic probability, trained backward one date at a time to maximise expected reward; lower bound plus dual upper bound. Bühler et al. (2019): semi-recurrent networks for the hedging strategy, trained with Adam on simulated paths to minimise a convex risk measure (e.g. expected shortfall) under transaction costs. We train one threshold jointly over all dates for expected payoff.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uses random start dates, so dates near t0 carry little weight. Case 0's selected checkpoint has a worse boundary than checkpoint 400 and loses 0.87 dollars at S0 = 60 in the fixed-start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NN smooths the LS noise and removes its downward spikes before dividends, but inherits LS's low level unless payoff training moves it (case 2 did, case 3 selected checkpoint 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cap supplies the known pre-dividend behaviour; the fitted functions only determine the shape below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mean lies at or below the reference value, as it must: a frozen policy cannot beat the optimum. The perturbation study (a = ±0.02) is still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optimal boundary itself moves by only 0.26% of K between N = 180 and 360, 10 to 100 times less than the fitted errors, so changes of a fitted policy with N are learning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an American Put Exercise Boundary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23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reference, Longstaff–Schwartz regression and neural exercise policies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 Joshi, Helen Siavelis, Jaskaran Kalra, William McDonnell  ·  Baruch MFE, Scientific Computing in Finance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accurately must a boundary be learned?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 American put with three proportional dividends; compare a reference, LS and a neural policy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100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93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399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3/4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19293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to maturity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32588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3990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log 1.05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19293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rate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6334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σ = 0.30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46120" y="2560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83280" y="26334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∈ {0, 1.25%}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fraction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256032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263347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∈ {180, 360}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316382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intervals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 at d = 5/24, 11/24, 17/24 (plot markers u = T − t = 13/24, 7/24, 1/24). Jump S → (1−δ)S, then exercise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Put: jump first. Call: decide first.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1, items 1 and 4 — which side of the dividend to exercise on</a:t>
            </a:r>
            <a:endParaRPr lang="en-US" sz="1300" dirty="0"/>
          </a:p>
        </p:txBody>
      </p:sp>
      <p:pic>
        <p:nvPicPr>
          <p:cNvPr id="4" name="Image 0" descr="figures/p1_pre_ju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394960" cy="197815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1234440"/>
            <a:ext cx="2697480" cy="3291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Put: V(d⁻, s) = V(d⁺, (1−δ)s) ≥ (K − s) + δs, so pre-jump exercise is never optimal.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Call: C(d⁻, s) = max{(s−K)⁺, C(d⁺, (1−δ)s)}; the max binds above s* (104.8 before d₃).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value at S₀=100: correct 10.4198, put-style ordering 10.4029, European 9.9037.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grid solver, N = 180, δ = 0.0125. The put-style call exercises one grid step early and loses interest K(1 − e^(−rh)).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a dividend, the boundary rides the cap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1, item 2 — b(d − ε) ≤ K(1 − e^(−rε)) / δ → 0</a:t>
            </a:r>
            <a:endParaRPr lang="en-US" sz="1300" dirty="0"/>
          </a:p>
        </p:txBody>
      </p:sp>
      <p:pic>
        <p:nvPicPr>
          <p:cNvPr id="4" name="Image 0" descr="figures/p1_cap_z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27157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033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3776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3.9 K / yr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43068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rK/δ of the straight segments in Cox–Rubinstein's figure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46120" y="37033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3776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1.63 → 0.81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43068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one-step cap K(1−e^(−rh))/δ, N = 180 → 360: positive, → 0 with h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37033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72200" y="37764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0.69, 0.75, 0.89 K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43068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just after d₁, d₂, d₃: the upward jump in calendar time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Dividends can only help the put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1, item 3 — V₀.₀₁₂₅ ≥ V₀ and b₀.₀₁₂₅ ≤ b₀, equal after d₃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344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Couple: same Brownian increments, S^δ = S⁰(1−δ)^n ≤ S⁰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9659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stopping time τ ⇒ (K − S^δ_τ)⁺ ≥ (K − S⁰_τ)⁺ on every path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expectations, then sup over τ ⇒ V_δ ≥ V₀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4290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V_δ = K − s ⇒ V₀ = K − s: exercise regions nested ⇒ b_δ ≤ b₀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0" y="12344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13075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183794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with Q_δ &lt; Q₀ under one common τ (coupled MC, 20,000 paths)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242316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249631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12.4 %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02666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violating it when each model uses its own stopping rule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0" y="361188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23560" y="3685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= B = F = 0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5623560" y="4215384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ordering diagnostics, N = 180 and 360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Refinement vs changing 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the reference is precise to ~1e-5 $; changing N changes the problem itself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price change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boundary change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Spatial dx/2, dx/4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1.6e-5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1.3e-3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integration h/2, h/4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7.2e-9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1.6e-6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Wider domain / kernel tails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3e-12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180 → 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2.2e-3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132588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89320" y="1417320"/>
            <a:ext cx="2560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reference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solver: exact Gaussian step on a log grid, dividend = exact 10-node shift, dx²/6 variance correction. European check ≈ 2e-5 $. Replace with the supplied -verify output.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6118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6850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1e-5 $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2153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price precision (largest refinement change)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08960" y="361188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6120" y="36850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0.3 $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42153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shift from N = 180 → 360: a different problem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claimed accuracy gain smaller than the reference's own precision (~1e-5 $ in price, ~1e-3 $ in boundary) cannot be resolved.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simulation passes the martingale check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(mean S_T − S₀e^(rT)(1−δ)³) / SE on the final S₀ = 100 sample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90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+0.12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93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0: N = 180, δ = 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42032" y="13258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79192" y="13990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+0.62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79192" y="19293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N = 180, δ = 0.0125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3258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64024" y="13990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+1.96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64024" y="19293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N = 360, δ =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11696" y="1325880"/>
            <a:ext cx="192024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48856" y="139903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+0.23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848856" y="1929384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N = 360, δ = 0.0125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51760"/>
            <a:ext cx="82296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lognormal step, dividend applied on arrival at an integer dividend index; a start at a dividend date is post-jump.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mixture A: log-uniform on [0.001K, K] or uniform on [0.2K, 1.2K], each with probability 1/2.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z-scores lie inside ±2; case 2 sits at the edge (1.96), which is plausible for one of four draws.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draw order (README.md not yet available): coin, log-uniform, uniform per path, then the path normals.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Longstaff–Schwartz, turned into a threshold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32,768 paths from S₀ ~ A, targets in time-zero dollars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116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on 1, x, x², x³ over ITM rows (SVD least squares)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50876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974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0116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c_j ∈ [0, K e^(−r t_{j+1})] ⇒ H₀ &gt; 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50876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006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0116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+/− crossing of H on s = 0.1ℓ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66560" y="1371600"/>
            <a:ext cx="1920240" cy="1828800"/>
          </a:xfrm>
          <a:prstGeom prst="roundRect">
            <a:avLst>
              <a:gd name="adj" fmla="val 4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50876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1508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 &amp; update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201168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b_j = min(U_j, candidate); exercised paths get e^(−r t_j)(K − S_j)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38328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2103120"/>
                <a:gridCol w="1645920"/>
                <a:gridCol w="20116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Multi-crossing 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Capped 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max|Q−Y|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179 / 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142 / 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/ 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264 / 360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largest crossing is the right one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cubic over [0.001K, K] cannot follow the curvature: H dips below zero near s ≈ 3</a:t>
            </a:r>
            <a:endParaRPr lang="en-US" sz="1300" dirty="0"/>
          </a:p>
        </p:txBody>
      </p:sp>
      <p:pic>
        <p:nvPicPr>
          <p:cNvPr id="4" name="Image 0" descr="figures/p23_H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229600" cy="294533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0, date j = 90. Selecting the largest crossing gives one exercise interval (0, b] and discards the spurious continuation pocket around s ≈ 3–33.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neural boundary under the cap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b_θ(t_j) = U_j · sigmoid(f_θ(t_j)); the cap is built in, the network learns the shape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0700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Architecture. </a:t>
            </a:r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0: one net on [0, T]. δ &gt; 0: four nets on [0,d₁), [d₁,d₂), [d₂,d₃), [d₃,T]. Each Linear(1,8) → tanh → Linear(8,1), input x = (t−α)/(β−α).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02996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start. </a:t>
            </a:r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full-grid Adam steps (lr 0.01) onto the LS thresholds → checkpoint 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85292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Payoff stage. </a:t>
            </a:r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2,400 Adam steps (lr 0.003), batches of 512 from 8,192 random-start paths; ε = 0.01 → 0.002 after 400.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675888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Selection. </a:t>
            </a:r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 on 4,096 validation paths at checkpoints 0, 400, …, 2,400; best mean wins, ties → earliest.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0" y="1234440"/>
            <a:ext cx="3200400" cy="3291840"/>
          </a:xfrm>
          <a:prstGeom prst="roundRect">
            <a:avLst>
              <a:gd name="adj" fmla="val 2286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1371600"/>
            <a:ext cx="29260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Randomised stopping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p_j = 1{S_j&lt;K} · sigmoid((b_θ(t_j) − S_j)/(εK)),  p_N =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w_j = p_j · Π_{k&lt;j} (1 − p_k)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R_θ = Σ_j w_j e^(−r(t_j − t_J)) (K − S_j)⁺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w_j is the probability of stopping first at t_j, so R_θ is the path-conditional expected payoff of a randomised rule: smooth in θ, and equal to the hard rule as ε → 0 (checked to ≤ 1e-6 $).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cannot tell the checkpoints apart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validation gains vs checkpoint 0 are all within ~2 SE</a:t>
            </a:r>
            <a:endParaRPr lang="en-US" sz="1300" dirty="0"/>
          </a:p>
        </p:txBody>
      </p:sp>
      <p:pic>
        <p:nvPicPr>
          <p:cNvPr id="4" name="Image 0" descr="figures/p4_valid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5120640" cy="27203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234440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30759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0: ckpt 2400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E_mean 0.065 → 0.078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06440" y="2075688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0" y="21488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ckpt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E_mean 0.019 → 0.019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06440" y="2916936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0" y="299008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ckpt 2400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E_mean 0.056 → 0.023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06440" y="3758184"/>
            <a:ext cx="2880360" cy="73152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0" y="383133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ckpt 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E_mean 0.043 → 0.043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payoff training more than halved the boundary error. Case 0: the selected checkpoint drifted to b ≈ 0.49K near t₀, which few validation paths visit.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boundaries (N = 360)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reference (blue), LS (orange), selected neural policy (green), N = 180 reference dashed</a:t>
            </a:r>
            <a:endParaRPr lang="en-US" sz="1300" dirty="0"/>
          </a:p>
        </p:txBody>
      </p:sp>
      <p:pic>
        <p:nvPicPr>
          <p:cNvPr id="4" name="Image 0" descr="figures/fig1_bounda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 the final dividend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— case 3, |t − d₃| ≤ 1/24</a:t>
            </a:r>
            <a:endParaRPr lang="en-US" sz="1300" dirty="0"/>
          </a:p>
        </p:txBody>
      </p:sp>
      <p:pic>
        <p:nvPicPr>
          <p:cNvPr id="4" name="Image 0" descr="figures/fig2_final_divid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313845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760720" y="1280160"/>
            <a:ext cx="292608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 the dotted line = before d₃ in calendar time: the reference sits exactly on the Part 1 bound.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 and NN stay below the cap there: the premium δs − K(1 − e^(−rε)) is only cents.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= after d₃: no dividend remains and the boundary rises to K; both fits are biased low (~0.15K).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boundary error, small price error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prices — 50,000 independent paths per start, common paths across policies, float64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1097280"/>
                <a:gridCol w="146304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 (SE)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 (SE)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20.8688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20.653 (0.056)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20.584 (0.056)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8.8078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8.648 (0.050)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8.760 (0.046)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22.1095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21.997 (0.063)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22.010 (0.063)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10.1264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10.029 (0.055)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10.033 (0.055)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20.8710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20.660 (0.054)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20.822 (0.042)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8.8091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8.612 (0.049)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8.688 (0.046)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22.1102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22.070 (0.063)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22.065 (0.062)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10.1270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10.073 (0.055)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10.073 (0.055)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128016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3533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3–7 % | 2–8 %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88366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boundary error E_mean of K: LS | NN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06440" y="246888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254203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0.02–0.19 $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07238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LS price loss vs the reference boundary rule (same paths)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365760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S₀ = 60 omitted: LS and the reference exercise at once (value 40); the NN loses 0.87 $ (case 0) and 0.03 $ (case 1) there. Smooth pasting makes price error roughly second order in boundary error.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Moving the boundary barely moves the price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5.3 — case 3, S₀ = 100: shift the NN boundary by aK, cap at U_j, floor at 0</a:t>
            </a:r>
            <a:endParaRPr lang="en-US" sz="1300" dirty="0"/>
          </a:p>
        </p:txBody>
      </p:sp>
      <p:pic>
        <p:nvPicPr>
          <p:cNvPr id="4" name="Image 0" descr="figures/p5_perturb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80809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06440" y="118872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0" y="126187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-0.019 $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79222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−0.02: SE 0.008; 17% of paths now exercise later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06440" y="237744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EEF2FB"/>
          </a:solidFill>
          <a:ln w="12700">
            <a:solidFill>
              <a:srgbClr val="EEF2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0" y="245059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+0.005 $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298094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+0.02: SE 0.009; cap binds on 147 of 360 dates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806440" y="356616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paths that enter the shifted band change decision. The cap absorbs most of an upward shift (applied mean shift 0.014K). The NN sits ≈0.04K below the reference, so moving down hurts and moving up lands on the flat part.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Dots: the assignment's shifts (95% paired intervals). Line and band: our finer supplementary sweep on the same 50,000 paths.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accurately must the boundary be learned?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5272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it looks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2–8% mean boundary error costs cents: the value is flat near the optimal threshold (smooth pasting).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98424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where paths go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error at a heavily visited state (case-0 NN at t₀, S₀ = 60) costs 0.87 $.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71576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beats fitting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1 cap gives the pre-dividend boundary exactly; both learners only fill in the rest.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EB68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4728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noisy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cannot separate checkpoints (all within ~2 SE); no fitted price exceeds the reference (max z = -0.65).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our own validated grid solver (the supplied reference files were not available); draw order documented in the code.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an American Put Exercise Boundary</dc:title>
  <dc:subject>PptxGenJS Presentation</dc:subject>
  <dc:creator>PptxGenJS</dc:creator>
  <cp:lastModifiedBy>PptxGenJS</cp:lastModifiedBy>
  <cp:revision>1</cp:revision>
  <dcterms:created xsi:type="dcterms:W3CDTF">2026-09-26T23:57:35Z</dcterms:created>
  <dcterms:modified xsi:type="dcterms:W3CDTF">2026-09-26T23:57:35Z</dcterms:modified>
</cp:coreProperties>
</file>